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8" r:id="rId10"/>
    <p:sldId id="269" r:id="rId11"/>
    <p:sldId id="266" r:id="rId12"/>
    <p:sldId id="267"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varScale="1">
        <p:scale>
          <a:sx n="70" d="100"/>
          <a:sy n="70" d="100"/>
        </p:scale>
        <p:origin x="525"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EF3887-0434-4EB6-A974-66F05CCC7E8B}" type="datetimeFigureOut">
              <a:rPr lang="en-US" smtClean="0"/>
              <a:t>5/11/2026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9EB922-A6B1-4858-8986-A1640FED28D2}" type="slidenum">
              <a:rPr lang="en-US" smtClean="0"/>
              <a:t>‹#›</a:t>
            </a:fld>
            <a:endParaRPr lang="en-US"/>
          </a:p>
        </p:txBody>
      </p:sp>
    </p:spTree>
    <p:extLst>
      <p:ext uri="{BB962C8B-B14F-4D97-AF65-F5344CB8AC3E}">
        <p14:creationId xmlns:p14="http://schemas.microsoft.com/office/powerpoint/2010/main" val="2517037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WHAT APPROXIMATIONS I AM USING</a:t>
            </a:r>
          </a:p>
        </p:txBody>
      </p:sp>
      <p:sp>
        <p:nvSpPr>
          <p:cNvPr id="4" name="Slide Number Placeholder 3"/>
          <p:cNvSpPr>
            <a:spLocks noGrp="1"/>
          </p:cNvSpPr>
          <p:nvPr>
            <p:ph type="sldNum" sz="quarter" idx="5"/>
          </p:nvPr>
        </p:nvSpPr>
        <p:spPr/>
        <p:txBody>
          <a:bodyPr/>
          <a:lstStyle/>
          <a:p>
            <a:fld id="{259EB922-A6B1-4858-8986-A1640FED28D2}" type="slidenum">
              <a:rPr lang="en-US" smtClean="0"/>
              <a:t>6</a:t>
            </a:fld>
            <a:endParaRPr lang="en-US"/>
          </a:p>
        </p:txBody>
      </p:sp>
    </p:spTree>
    <p:extLst>
      <p:ext uri="{BB962C8B-B14F-4D97-AF65-F5344CB8AC3E}">
        <p14:creationId xmlns:p14="http://schemas.microsoft.com/office/powerpoint/2010/main" val="2609062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9EB922-A6B1-4858-8986-A1640FED28D2}" type="slidenum">
              <a:rPr lang="en-US" smtClean="0"/>
              <a:t>8</a:t>
            </a:fld>
            <a:endParaRPr lang="en-US"/>
          </a:p>
        </p:txBody>
      </p:sp>
    </p:spTree>
    <p:extLst>
      <p:ext uri="{BB962C8B-B14F-4D97-AF65-F5344CB8AC3E}">
        <p14:creationId xmlns:p14="http://schemas.microsoft.com/office/powerpoint/2010/main" val="32498914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94481-46AF-23A9-AA5A-42820A307C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1C1509-F26A-AF3C-7636-AE756607FB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778258-9B38-B1F0-EB99-9291DD7C03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0D92C1-1613-BFD4-A8FE-22254207C5B3}"/>
              </a:ext>
            </a:extLst>
          </p:cNvPr>
          <p:cNvSpPr>
            <a:spLocks noGrp="1"/>
          </p:cNvSpPr>
          <p:nvPr>
            <p:ph type="sldNum" sz="quarter" idx="5"/>
          </p:nvPr>
        </p:nvSpPr>
        <p:spPr/>
        <p:txBody>
          <a:bodyPr/>
          <a:lstStyle/>
          <a:p>
            <a:fld id="{259EB922-A6B1-4858-8986-A1640FED28D2}" type="slidenum">
              <a:rPr lang="en-US" smtClean="0"/>
              <a:t>9</a:t>
            </a:fld>
            <a:endParaRPr lang="en-US"/>
          </a:p>
        </p:txBody>
      </p:sp>
    </p:spTree>
    <p:extLst>
      <p:ext uri="{BB962C8B-B14F-4D97-AF65-F5344CB8AC3E}">
        <p14:creationId xmlns:p14="http://schemas.microsoft.com/office/powerpoint/2010/main" val="35117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40C2A-333B-1E31-7B8E-C202635CD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EBE84-F056-B201-0BA7-2455738506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3CB677-19FD-FDC5-FD77-F63FCB2053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F4D8E0-15BB-16EE-9F17-CAD91EF5D86E}"/>
              </a:ext>
            </a:extLst>
          </p:cNvPr>
          <p:cNvSpPr>
            <a:spLocks noGrp="1"/>
          </p:cNvSpPr>
          <p:nvPr>
            <p:ph type="sldNum" sz="quarter" idx="5"/>
          </p:nvPr>
        </p:nvSpPr>
        <p:spPr/>
        <p:txBody>
          <a:bodyPr/>
          <a:lstStyle/>
          <a:p>
            <a:fld id="{259EB922-A6B1-4858-8986-A1640FED28D2}" type="slidenum">
              <a:rPr lang="en-US" smtClean="0"/>
              <a:t>10</a:t>
            </a:fld>
            <a:endParaRPr lang="en-US"/>
          </a:p>
        </p:txBody>
      </p:sp>
    </p:spTree>
    <p:extLst>
      <p:ext uri="{BB962C8B-B14F-4D97-AF65-F5344CB8AC3E}">
        <p14:creationId xmlns:p14="http://schemas.microsoft.com/office/powerpoint/2010/main" val="1286837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8C678-F2B2-F609-672E-354621AEF1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5AFC697-A29F-A20C-2F58-792F01EE0A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7C7261-E69F-ADAF-B777-5E83A5E2B93D}"/>
              </a:ext>
            </a:extLst>
          </p:cNvPr>
          <p:cNvSpPr>
            <a:spLocks noGrp="1"/>
          </p:cNvSpPr>
          <p:nvPr>
            <p:ph type="dt" sz="half" idx="10"/>
          </p:nvPr>
        </p:nvSpPr>
        <p:spPr/>
        <p:txBody>
          <a:bodyPr/>
          <a:lstStyle/>
          <a:p>
            <a:fld id="{8B1685EB-3CD4-420A-9BED-99A7083D7484}" type="datetime1">
              <a:rPr lang="en-US" smtClean="0"/>
              <a:t>5/11/2026</a:t>
            </a:fld>
            <a:endParaRPr lang="en-US"/>
          </a:p>
        </p:txBody>
      </p:sp>
      <p:sp>
        <p:nvSpPr>
          <p:cNvPr id="5" name="Footer Placeholder 4">
            <a:extLst>
              <a:ext uri="{FF2B5EF4-FFF2-40B4-BE49-F238E27FC236}">
                <a16:creationId xmlns:a16="http://schemas.microsoft.com/office/drawing/2014/main" id="{B21F396C-F912-2EF9-8C8B-DFF9564294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BEF2F2-4419-4F01-6046-9703891A3322}"/>
              </a:ext>
            </a:extLst>
          </p:cNvPr>
          <p:cNvSpPr>
            <a:spLocks noGrp="1"/>
          </p:cNvSpPr>
          <p:nvPr>
            <p:ph type="sldNum" sz="quarter" idx="12"/>
          </p:nvPr>
        </p:nvSpPr>
        <p:spPr/>
        <p:txBody>
          <a:bodyPr/>
          <a:lstStyle/>
          <a:p>
            <a:fld id="{915BFE24-F66A-465D-89F5-7F8A03242D8E}" type="slidenum">
              <a:rPr lang="en-US" smtClean="0"/>
              <a:t>‹#›</a:t>
            </a:fld>
            <a:endParaRPr lang="en-US"/>
          </a:p>
        </p:txBody>
      </p:sp>
    </p:spTree>
    <p:extLst>
      <p:ext uri="{BB962C8B-B14F-4D97-AF65-F5344CB8AC3E}">
        <p14:creationId xmlns:p14="http://schemas.microsoft.com/office/powerpoint/2010/main" val="2288287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8997C-A784-6E70-8FD7-EC5328EAF5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08AF0B-571E-63F0-A54B-3C1B1B4F2D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FA5A33-6B51-C781-ABB6-1B5ABCAF8E39}"/>
              </a:ext>
            </a:extLst>
          </p:cNvPr>
          <p:cNvSpPr>
            <a:spLocks noGrp="1"/>
          </p:cNvSpPr>
          <p:nvPr>
            <p:ph type="dt" sz="half" idx="10"/>
          </p:nvPr>
        </p:nvSpPr>
        <p:spPr/>
        <p:txBody>
          <a:bodyPr/>
          <a:lstStyle/>
          <a:p>
            <a:fld id="{95E934F0-E395-4550-9812-3C1A2B56B6A5}" type="datetime1">
              <a:rPr lang="en-US" smtClean="0"/>
              <a:t>5/11/2026</a:t>
            </a:fld>
            <a:endParaRPr lang="en-US"/>
          </a:p>
        </p:txBody>
      </p:sp>
      <p:sp>
        <p:nvSpPr>
          <p:cNvPr id="5" name="Footer Placeholder 4">
            <a:extLst>
              <a:ext uri="{FF2B5EF4-FFF2-40B4-BE49-F238E27FC236}">
                <a16:creationId xmlns:a16="http://schemas.microsoft.com/office/drawing/2014/main" id="{0C02F6C2-B95F-76E8-300B-5AC929C161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362575-F988-D1FA-0C72-D91B41183F7F}"/>
              </a:ext>
            </a:extLst>
          </p:cNvPr>
          <p:cNvSpPr>
            <a:spLocks noGrp="1"/>
          </p:cNvSpPr>
          <p:nvPr>
            <p:ph type="sldNum" sz="quarter" idx="12"/>
          </p:nvPr>
        </p:nvSpPr>
        <p:spPr/>
        <p:txBody>
          <a:bodyPr/>
          <a:lstStyle/>
          <a:p>
            <a:fld id="{915BFE24-F66A-465D-89F5-7F8A03242D8E}" type="slidenum">
              <a:rPr lang="en-US" smtClean="0"/>
              <a:t>‹#›</a:t>
            </a:fld>
            <a:endParaRPr lang="en-US"/>
          </a:p>
        </p:txBody>
      </p:sp>
    </p:spTree>
    <p:extLst>
      <p:ext uri="{BB962C8B-B14F-4D97-AF65-F5344CB8AC3E}">
        <p14:creationId xmlns:p14="http://schemas.microsoft.com/office/powerpoint/2010/main" val="3228102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417B7-DBA8-6C3B-6FA9-BCBA61C62A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9E6CEF0-4B6E-5181-F70D-06F42404917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3B7CCA-3D0D-8DB5-D350-5591AE685E1B}"/>
              </a:ext>
            </a:extLst>
          </p:cNvPr>
          <p:cNvSpPr>
            <a:spLocks noGrp="1"/>
          </p:cNvSpPr>
          <p:nvPr>
            <p:ph type="dt" sz="half" idx="10"/>
          </p:nvPr>
        </p:nvSpPr>
        <p:spPr/>
        <p:txBody>
          <a:bodyPr/>
          <a:lstStyle/>
          <a:p>
            <a:fld id="{B1052958-6D8C-41CF-BC2A-49A7AC171836}" type="datetime1">
              <a:rPr lang="en-US" smtClean="0"/>
              <a:t>5/11/2026</a:t>
            </a:fld>
            <a:endParaRPr lang="en-US"/>
          </a:p>
        </p:txBody>
      </p:sp>
      <p:sp>
        <p:nvSpPr>
          <p:cNvPr id="5" name="Footer Placeholder 4">
            <a:extLst>
              <a:ext uri="{FF2B5EF4-FFF2-40B4-BE49-F238E27FC236}">
                <a16:creationId xmlns:a16="http://schemas.microsoft.com/office/drawing/2014/main" id="{786C1DA7-7E0E-E0D7-F9B7-F1D3074F25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F83689-E354-111E-FACD-2775E125F81C}"/>
              </a:ext>
            </a:extLst>
          </p:cNvPr>
          <p:cNvSpPr>
            <a:spLocks noGrp="1"/>
          </p:cNvSpPr>
          <p:nvPr>
            <p:ph type="sldNum" sz="quarter" idx="12"/>
          </p:nvPr>
        </p:nvSpPr>
        <p:spPr/>
        <p:txBody>
          <a:bodyPr/>
          <a:lstStyle/>
          <a:p>
            <a:fld id="{915BFE24-F66A-465D-89F5-7F8A03242D8E}" type="slidenum">
              <a:rPr lang="en-US" smtClean="0"/>
              <a:t>‹#›</a:t>
            </a:fld>
            <a:endParaRPr lang="en-US"/>
          </a:p>
        </p:txBody>
      </p:sp>
    </p:spTree>
    <p:extLst>
      <p:ext uri="{BB962C8B-B14F-4D97-AF65-F5344CB8AC3E}">
        <p14:creationId xmlns:p14="http://schemas.microsoft.com/office/powerpoint/2010/main" val="386334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63A7D-A578-0B4B-05CF-5C3601B09E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AA54FC-BFD8-1D03-BA80-C5CB214F83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38A7FE5-EF03-4FD0-173C-9B29F91C87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C1C1F7-6FDA-26EB-EAEA-5C68C98415A3}"/>
              </a:ext>
            </a:extLst>
          </p:cNvPr>
          <p:cNvSpPr>
            <a:spLocks noGrp="1"/>
          </p:cNvSpPr>
          <p:nvPr>
            <p:ph type="dt" sz="half" idx="10"/>
          </p:nvPr>
        </p:nvSpPr>
        <p:spPr/>
        <p:txBody>
          <a:bodyPr/>
          <a:lstStyle/>
          <a:p>
            <a:fld id="{46CD091E-1C84-443E-BEBC-040CEACBA16A}" type="datetime1">
              <a:rPr lang="en-US" smtClean="0"/>
              <a:t>5/11/2026</a:t>
            </a:fld>
            <a:endParaRPr lang="en-US"/>
          </a:p>
        </p:txBody>
      </p:sp>
      <p:sp>
        <p:nvSpPr>
          <p:cNvPr id="6" name="Footer Placeholder 5">
            <a:extLst>
              <a:ext uri="{FF2B5EF4-FFF2-40B4-BE49-F238E27FC236}">
                <a16:creationId xmlns:a16="http://schemas.microsoft.com/office/drawing/2014/main" id="{305F18D7-4A8F-E701-A932-B3F17876B0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FCFFA6-F2F4-5987-96F9-6AFA5890A100}"/>
              </a:ext>
            </a:extLst>
          </p:cNvPr>
          <p:cNvSpPr>
            <a:spLocks noGrp="1"/>
          </p:cNvSpPr>
          <p:nvPr>
            <p:ph type="sldNum" sz="quarter" idx="12"/>
          </p:nvPr>
        </p:nvSpPr>
        <p:spPr/>
        <p:txBody>
          <a:bodyPr/>
          <a:lstStyle/>
          <a:p>
            <a:fld id="{915BFE24-F66A-465D-89F5-7F8A03242D8E}" type="slidenum">
              <a:rPr lang="en-US" smtClean="0"/>
              <a:t>‹#›</a:t>
            </a:fld>
            <a:endParaRPr lang="en-US"/>
          </a:p>
        </p:txBody>
      </p:sp>
    </p:spTree>
    <p:extLst>
      <p:ext uri="{BB962C8B-B14F-4D97-AF65-F5344CB8AC3E}">
        <p14:creationId xmlns:p14="http://schemas.microsoft.com/office/powerpoint/2010/main" val="3297330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E726F-4E9C-E34C-59D4-E118BCD6C69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D2569CE-E68B-8692-C0D6-4446B343C3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54226F-D12D-FF3C-C704-1E1DA382CB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2A2E041-5304-3F8B-3AC5-D23841A1D2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F37634-A623-030A-7A38-F3767EFB9E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5F4E892-E62F-1F1D-5EEC-C7576379B9FA}"/>
              </a:ext>
            </a:extLst>
          </p:cNvPr>
          <p:cNvSpPr>
            <a:spLocks noGrp="1"/>
          </p:cNvSpPr>
          <p:nvPr>
            <p:ph type="dt" sz="half" idx="10"/>
          </p:nvPr>
        </p:nvSpPr>
        <p:spPr/>
        <p:txBody>
          <a:bodyPr/>
          <a:lstStyle/>
          <a:p>
            <a:fld id="{F00DBCBB-269D-485D-98C8-50CBF6E94314}" type="datetime1">
              <a:rPr lang="en-US" smtClean="0"/>
              <a:t>5/11/2026</a:t>
            </a:fld>
            <a:endParaRPr lang="en-US"/>
          </a:p>
        </p:txBody>
      </p:sp>
      <p:sp>
        <p:nvSpPr>
          <p:cNvPr id="8" name="Footer Placeholder 7">
            <a:extLst>
              <a:ext uri="{FF2B5EF4-FFF2-40B4-BE49-F238E27FC236}">
                <a16:creationId xmlns:a16="http://schemas.microsoft.com/office/drawing/2014/main" id="{A15F4B04-83D8-37DF-F36D-254B938340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4EEE5F3-7D3B-66D0-7697-DA914BCEBA38}"/>
              </a:ext>
            </a:extLst>
          </p:cNvPr>
          <p:cNvSpPr>
            <a:spLocks noGrp="1"/>
          </p:cNvSpPr>
          <p:nvPr>
            <p:ph type="sldNum" sz="quarter" idx="12"/>
          </p:nvPr>
        </p:nvSpPr>
        <p:spPr/>
        <p:txBody>
          <a:bodyPr/>
          <a:lstStyle/>
          <a:p>
            <a:fld id="{915BFE24-F66A-465D-89F5-7F8A03242D8E}" type="slidenum">
              <a:rPr lang="en-US" smtClean="0"/>
              <a:t>‹#›</a:t>
            </a:fld>
            <a:endParaRPr lang="en-US"/>
          </a:p>
        </p:txBody>
      </p:sp>
    </p:spTree>
    <p:extLst>
      <p:ext uri="{BB962C8B-B14F-4D97-AF65-F5344CB8AC3E}">
        <p14:creationId xmlns:p14="http://schemas.microsoft.com/office/powerpoint/2010/main" val="730676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BC7DB-F82D-7FB5-1405-CE1B9B992D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7AB6C4-0404-8D42-AFA9-8DA1E8157210}"/>
              </a:ext>
            </a:extLst>
          </p:cNvPr>
          <p:cNvSpPr>
            <a:spLocks noGrp="1"/>
          </p:cNvSpPr>
          <p:nvPr>
            <p:ph type="dt" sz="half" idx="10"/>
          </p:nvPr>
        </p:nvSpPr>
        <p:spPr/>
        <p:txBody>
          <a:bodyPr/>
          <a:lstStyle/>
          <a:p>
            <a:fld id="{8B502D51-DB6A-4356-960A-8AD5F0C1E1DF}" type="datetime1">
              <a:rPr lang="en-US" smtClean="0"/>
              <a:t>5/11/2026</a:t>
            </a:fld>
            <a:endParaRPr lang="en-US"/>
          </a:p>
        </p:txBody>
      </p:sp>
      <p:sp>
        <p:nvSpPr>
          <p:cNvPr id="4" name="Footer Placeholder 3">
            <a:extLst>
              <a:ext uri="{FF2B5EF4-FFF2-40B4-BE49-F238E27FC236}">
                <a16:creationId xmlns:a16="http://schemas.microsoft.com/office/drawing/2014/main" id="{FD715398-D22C-C89D-2379-A93901C3463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EAF2D6-4ABD-9007-FF46-4BA77EBFAFD8}"/>
              </a:ext>
            </a:extLst>
          </p:cNvPr>
          <p:cNvSpPr>
            <a:spLocks noGrp="1"/>
          </p:cNvSpPr>
          <p:nvPr>
            <p:ph type="sldNum" sz="quarter" idx="12"/>
          </p:nvPr>
        </p:nvSpPr>
        <p:spPr/>
        <p:txBody>
          <a:bodyPr/>
          <a:lstStyle/>
          <a:p>
            <a:fld id="{915BFE24-F66A-465D-89F5-7F8A03242D8E}" type="slidenum">
              <a:rPr lang="en-US" smtClean="0"/>
              <a:t>‹#›</a:t>
            </a:fld>
            <a:endParaRPr lang="en-US"/>
          </a:p>
        </p:txBody>
      </p:sp>
    </p:spTree>
    <p:extLst>
      <p:ext uri="{BB962C8B-B14F-4D97-AF65-F5344CB8AC3E}">
        <p14:creationId xmlns:p14="http://schemas.microsoft.com/office/powerpoint/2010/main" val="2750046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D3B14A-4EEC-D9AF-57BE-4ABFF64D2484}"/>
              </a:ext>
            </a:extLst>
          </p:cNvPr>
          <p:cNvSpPr>
            <a:spLocks noGrp="1"/>
          </p:cNvSpPr>
          <p:nvPr>
            <p:ph type="dt" sz="half" idx="10"/>
          </p:nvPr>
        </p:nvSpPr>
        <p:spPr/>
        <p:txBody>
          <a:bodyPr/>
          <a:lstStyle/>
          <a:p>
            <a:fld id="{BFEF73BE-F3E6-4885-9671-B7BB73578AE6}" type="datetime1">
              <a:rPr lang="en-US" smtClean="0"/>
              <a:t>5/11/2026</a:t>
            </a:fld>
            <a:endParaRPr lang="en-US"/>
          </a:p>
        </p:txBody>
      </p:sp>
      <p:sp>
        <p:nvSpPr>
          <p:cNvPr id="3" name="Footer Placeholder 2">
            <a:extLst>
              <a:ext uri="{FF2B5EF4-FFF2-40B4-BE49-F238E27FC236}">
                <a16:creationId xmlns:a16="http://schemas.microsoft.com/office/drawing/2014/main" id="{BA06019A-C556-A7A8-62C5-D4810345CF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1B487F-DEB5-0723-88AD-5734882396FF}"/>
              </a:ext>
            </a:extLst>
          </p:cNvPr>
          <p:cNvSpPr>
            <a:spLocks noGrp="1"/>
          </p:cNvSpPr>
          <p:nvPr>
            <p:ph type="sldNum" sz="quarter" idx="12"/>
          </p:nvPr>
        </p:nvSpPr>
        <p:spPr/>
        <p:txBody>
          <a:bodyPr/>
          <a:lstStyle/>
          <a:p>
            <a:fld id="{915BFE24-F66A-465D-89F5-7F8A03242D8E}" type="slidenum">
              <a:rPr lang="en-US" smtClean="0"/>
              <a:t>‹#›</a:t>
            </a:fld>
            <a:endParaRPr lang="en-US"/>
          </a:p>
        </p:txBody>
      </p:sp>
    </p:spTree>
    <p:extLst>
      <p:ext uri="{BB962C8B-B14F-4D97-AF65-F5344CB8AC3E}">
        <p14:creationId xmlns:p14="http://schemas.microsoft.com/office/powerpoint/2010/main" val="35114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CBE69-03AE-AC18-7F98-80A552D1EA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B057245-6AF5-C920-2804-C293FDF22E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1DCFC16-38C7-AA2B-876B-64D034C334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759D36-A033-5C80-3594-CD4D0E61B236}"/>
              </a:ext>
            </a:extLst>
          </p:cNvPr>
          <p:cNvSpPr>
            <a:spLocks noGrp="1"/>
          </p:cNvSpPr>
          <p:nvPr>
            <p:ph type="dt" sz="half" idx="10"/>
          </p:nvPr>
        </p:nvSpPr>
        <p:spPr/>
        <p:txBody>
          <a:bodyPr/>
          <a:lstStyle/>
          <a:p>
            <a:fld id="{A0EAC42B-1424-48F6-BF2A-06DE75BD62E6}" type="datetime1">
              <a:rPr lang="en-US" smtClean="0"/>
              <a:t>5/11/2026</a:t>
            </a:fld>
            <a:endParaRPr lang="en-US"/>
          </a:p>
        </p:txBody>
      </p:sp>
      <p:sp>
        <p:nvSpPr>
          <p:cNvPr id="6" name="Footer Placeholder 5">
            <a:extLst>
              <a:ext uri="{FF2B5EF4-FFF2-40B4-BE49-F238E27FC236}">
                <a16:creationId xmlns:a16="http://schemas.microsoft.com/office/drawing/2014/main" id="{32FEB74A-F675-C7DD-7C06-E3523D5C9A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5CC5F6-CDEF-E4F1-4D2B-DF95D51B3181}"/>
              </a:ext>
            </a:extLst>
          </p:cNvPr>
          <p:cNvSpPr>
            <a:spLocks noGrp="1"/>
          </p:cNvSpPr>
          <p:nvPr>
            <p:ph type="sldNum" sz="quarter" idx="12"/>
          </p:nvPr>
        </p:nvSpPr>
        <p:spPr/>
        <p:txBody>
          <a:bodyPr/>
          <a:lstStyle/>
          <a:p>
            <a:fld id="{915BFE24-F66A-465D-89F5-7F8A03242D8E}" type="slidenum">
              <a:rPr lang="en-US" smtClean="0"/>
              <a:t>‹#›</a:t>
            </a:fld>
            <a:endParaRPr lang="en-US"/>
          </a:p>
        </p:txBody>
      </p:sp>
    </p:spTree>
    <p:extLst>
      <p:ext uri="{BB962C8B-B14F-4D97-AF65-F5344CB8AC3E}">
        <p14:creationId xmlns:p14="http://schemas.microsoft.com/office/powerpoint/2010/main" val="12364104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F3983-81E4-7CB9-21C0-7BBE63843B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4B20A23-7FC7-4D74-D8E2-736CF878DD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0057048-293D-A163-2687-9D60F58767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0B1B84-5C3F-FE64-17FA-617D3FD45E93}"/>
              </a:ext>
            </a:extLst>
          </p:cNvPr>
          <p:cNvSpPr>
            <a:spLocks noGrp="1"/>
          </p:cNvSpPr>
          <p:nvPr>
            <p:ph type="dt" sz="half" idx="10"/>
          </p:nvPr>
        </p:nvSpPr>
        <p:spPr/>
        <p:txBody>
          <a:bodyPr/>
          <a:lstStyle/>
          <a:p>
            <a:fld id="{B407FFC5-1491-4277-A0AB-01A2F9985B12}" type="datetime1">
              <a:rPr lang="en-US" smtClean="0"/>
              <a:t>5/11/2026</a:t>
            </a:fld>
            <a:endParaRPr lang="en-US"/>
          </a:p>
        </p:txBody>
      </p:sp>
      <p:sp>
        <p:nvSpPr>
          <p:cNvPr id="6" name="Footer Placeholder 5">
            <a:extLst>
              <a:ext uri="{FF2B5EF4-FFF2-40B4-BE49-F238E27FC236}">
                <a16:creationId xmlns:a16="http://schemas.microsoft.com/office/drawing/2014/main" id="{02B653DB-61E3-F9BD-0BC0-82A265AAF5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F6943A-A22B-C447-2A52-7C99145B362F}"/>
              </a:ext>
            </a:extLst>
          </p:cNvPr>
          <p:cNvSpPr>
            <a:spLocks noGrp="1"/>
          </p:cNvSpPr>
          <p:nvPr>
            <p:ph type="sldNum" sz="quarter" idx="12"/>
          </p:nvPr>
        </p:nvSpPr>
        <p:spPr/>
        <p:txBody>
          <a:bodyPr/>
          <a:lstStyle/>
          <a:p>
            <a:fld id="{915BFE24-F66A-465D-89F5-7F8A03242D8E}" type="slidenum">
              <a:rPr lang="en-US" smtClean="0"/>
              <a:t>‹#›</a:t>
            </a:fld>
            <a:endParaRPr lang="en-US"/>
          </a:p>
        </p:txBody>
      </p:sp>
    </p:spTree>
    <p:extLst>
      <p:ext uri="{BB962C8B-B14F-4D97-AF65-F5344CB8AC3E}">
        <p14:creationId xmlns:p14="http://schemas.microsoft.com/office/powerpoint/2010/main" val="1026767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02086-67F4-7457-DF80-EF57FE57FCD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72DF41-AE26-3C65-5979-DD80F2E656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70A8F1-D03A-3A8B-03B6-52B4CF4C0069}"/>
              </a:ext>
            </a:extLst>
          </p:cNvPr>
          <p:cNvSpPr>
            <a:spLocks noGrp="1"/>
          </p:cNvSpPr>
          <p:nvPr>
            <p:ph type="dt" sz="half" idx="10"/>
          </p:nvPr>
        </p:nvSpPr>
        <p:spPr/>
        <p:txBody>
          <a:bodyPr/>
          <a:lstStyle/>
          <a:p>
            <a:fld id="{59F11A31-CD98-45ED-B897-523B96A3587E}" type="datetime1">
              <a:rPr lang="en-US" smtClean="0"/>
              <a:t>5/11/2026</a:t>
            </a:fld>
            <a:endParaRPr lang="en-US"/>
          </a:p>
        </p:txBody>
      </p:sp>
      <p:sp>
        <p:nvSpPr>
          <p:cNvPr id="5" name="Footer Placeholder 4">
            <a:extLst>
              <a:ext uri="{FF2B5EF4-FFF2-40B4-BE49-F238E27FC236}">
                <a16:creationId xmlns:a16="http://schemas.microsoft.com/office/drawing/2014/main" id="{68D89C42-050D-48CC-B3D2-73D7013D60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3149CD-D670-8826-41DA-80AE77131474}"/>
              </a:ext>
            </a:extLst>
          </p:cNvPr>
          <p:cNvSpPr>
            <a:spLocks noGrp="1"/>
          </p:cNvSpPr>
          <p:nvPr>
            <p:ph type="sldNum" sz="quarter" idx="12"/>
          </p:nvPr>
        </p:nvSpPr>
        <p:spPr/>
        <p:txBody>
          <a:bodyPr/>
          <a:lstStyle/>
          <a:p>
            <a:fld id="{915BFE24-F66A-465D-89F5-7F8A03242D8E}" type="slidenum">
              <a:rPr lang="en-US" smtClean="0"/>
              <a:t>‹#›</a:t>
            </a:fld>
            <a:endParaRPr lang="en-US"/>
          </a:p>
        </p:txBody>
      </p:sp>
    </p:spTree>
    <p:extLst>
      <p:ext uri="{BB962C8B-B14F-4D97-AF65-F5344CB8AC3E}">
        <p14:creationId xmlns:p14="http://schemas.microsoft.com/office/powerpoint/2010/main" val="2878998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2728D2-C2B8-2EBB-639C-A567D01F6E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FA0639-8805-42A8-7265-25A04E7853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BD982C-504D-A6DB-EA5B-5C1863B1B421}"/>
              </a:ext>
            </a:extLst>
          </p:cNvPr>
          <p:cNvSpPr>
            <a:spLocks noGrp="1"/>
          </p:cNvSpPr>
          <p:nvPr>
            <p:ph type="dt" sz="half" idx="10"/>
          </p:nvPr>
        </p:nvSpPr>
        <p:spPr/>
        <p:txBody>
          <a:bodyPr/>
          <a:lstStyle/>
          <a:p>
            <a:fld id="{7E00D30B-A829-4A62-BF75-68B9C3D8AC72}" type="datetime1">
              <a:rPr lang="en-US" smtClean="0"/>
              <a:t>5/11/2026</a:t>
            </a:fld>
            <a:endParaRPr lang="en-US"/>
          </a:p>
        </p:txBody>
      </p:sp>
      <p:sp>
        <p:nvSpPr>
          <p:cNvPr id="5" name="Footer Placeholder 4">
            <a:extLst>
              <a:ext uri="{FF2B5EF4-FFF2-40B4-BE49-F238E27FC236}">
                <a16:creationId xmlns:a16="http://schemas.microsoft.com/office/drawing/2014/main" id="{11883813-781C-7685-B586-0128016CFA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FEA7E3-5891-A74B-BACC-ABED9A375BB9}"/>
              </a:ext>
            </a:extLst>
          </p:cNvPr>
          <p:cNvSpPr>
            <a:spLocks noGrp="1"/>
          </p:cNvSpPr>
          <p:nvPr>
            <p:ph type="sldNum" sz="quarter" idx="12"/>
          </p:nvPr>
        </p:nvSpPr>
        <p:spPr/>
        <p:txBody>
          <a:bodyPr/>
          <a:lstStyle/>
          <a:p>
            <a:fld id="{915BFE24-F66A-465D-89F5-7F8A03242D8E}" type="slidenum">
              <a:rPr lang="en-US" smtClean="0"/>
              <a:t>‹#›</a:t>
            </a:fld>
            <a:endParaRPr lang="en-US"/>
          </a:p>
        </p:txBody>
      </p:sp>
    </p:spTree>
    <p:extLst>
      <p:ext uri="{BB962C8B-B14F-4D97-AF65-F5344CB8AC3E}">
        <p14:creationId xmlns:p14="http://schemas.microsoft.com/office/powerpoint/2010/main" val="1791170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E16149-0D08-D37C-4575-3F0D158D12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B9D034-97AC-E414-DD78-5CB2632FC6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4A685B-6AB2-D04E-1849-99B68558F5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EBD3983-B25B-43D1-BB29-5F25D157C075}" type="datetime1">
              <a:rPr lang="en-US" smtClean="0"/>
              <a:t>5/11/2026</a:t>
            </a:fld>
            <a:endParaRPr lang="en-US"/>
          </a:p>
        </p:txBody>
      </p:sp>
      <p:sp>
        <p:nvSpPr>
          <p:cNvPr id="5" name="Footer Placeholder 4">
            <a:extLst>
              <a:ext uri="{FF2B5EF4-FFF2-40B4-BE49-F238E27FC236}">
                <a16:creationId xmlns:a16="http://schemas.microsoft.com/office/drawing/2014/main" id="{21544A82-CA0A-F2D3-D6C1-B788F978E1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434187D-1099-D988-6808-3DA4DF089D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5BFE24-F66A-465D-89F5-7F8A03242D8E}" type="slidenum">
              <a:rPr lang="en-US" smtClean="0"/>
              <a:t>‹#›</a:t>
            </a:fld>
            <a:endParaRPr lang="en-US"/>
          </a:p>
        </p:txBody>
      </p:sp>
    </p:spTree>
    <p:extLst>
      <p:ext uri="{BB962C8B-B14F-4D97-AF65-F5344CB8AC3E}">
        <p14:creationId xmlns:p14="http://schemas.microsoft.com/office/powerpoint/2010/main" val="33858793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doi.org/10.1021/acs.chemrev.2c00855" TargetMode="Externa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hyperlink" Target="https://doi.org/10.1038/s41467-023-37772-7" TargetMode="Externa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doi.org/10.1063/5.0057542" TargetMode="External"/><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hyperlink" Target="https://doi.org/10.1063/5.0057542" TargetMode="External"/><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5.png"/></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6.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3.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97A51AEE-20F7-560E-7345-8BC3409767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343" t="9091" r="12955"/>
          <a:stretch>
            <a:fillRect/>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103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0D3EFC-BBD2-E195-D3C3-58B2BF641EDD}"/>
              </a:ext>
            </a:extLst>
          </p:cNvPr>
          <p:cNvSpPr>
            <a:spLocks noGrp="1"/>
          </p:cNvSpPr>
          <p:nvPr>
            <p:ph type="ctrTitle"/>
          </p:nvPr>
        </p:nvSpPr>
        <p:spPr>
          <a:xfrm>
            <a:off x="477981" y="1122363"/>
            <a:ext cx="4023360" cy="3204134"/>
          </a:xfrm>
        </p:spPr>
        <p:txBody>
          <a:bodyPr anchor="b">
            <a:normAutofit/>
          </a:bodyPr>
          <a:lstStyle/>
          <a:p>
            <a:pPr algn="l"/>
            <a:r>
              <a:rPr lang="en-US" sz="3700" dirty="0">
                <a:solidFill>
                  <a:schemeClr val="bg1"/>
                </a:solidFill>
              </a:rPr>
              <a:t>QED-TD-DFT: </a:t>
            </a:r>
            <a:br>
              <a:rPr lang="en-US" sz="3700" dirty="0">
                <a:solidFill>
                  <a:schemeClr val="bg1"/>
                </a:solidFill>
              </a:rPr>
            </a:br>
            <a:r>
              <a:rPr lang="en-US" sz="3700" dirty="0">
                <a:solidFill>
                  <a:schemeClr val="bg1"/>
                </a:solidFill>
              </a:rPr>
              <a:t>Photon Quantization for Strong EM Coupling Modelling</a:t>
            </a:r>
          </a:p>
        </p:txBody>
      </p:sp>
      <p:sp>
        <p:nvSpPr>
          <p:cNvPr id="3" name="Subtitle 2">
            <a:extLst>
              <a:ext uri="{FF2B5EF4-FFF2-40B4-BE49-F238E27FC236}">
                <a16:creationId xmlns:a16="http://schemas.microsoft.com/office/drawing/2014/main" id="{9F7AF9EE-ED9D-AC00-9D41-F4E3E1BC5192}"/>
              </a:ext>
            </a:extLst>
          </p:cNvPr>
          <p:cNvSpPr>
            <a:spLocks noGrp="1"/>
          </p:cNvSpPr>
          <p:nvPr>
            <p:ph type="subTitle" idx="1"/>
          </p:nvPr>
        </p:nvSpPr>
        <p:spPr>
          <a:xfrm>
            <a:off x="477980" y="4872922"/>
            <a:ext cx="4023359" cy="1208141"/>
          </a:xfrm>
        </p:spPr>
        <p:txBody>
          <a:bodyPr>
            <a:normAutofit/>
          </a:bodyPr>
          <a:lstStyle/>
          <a:p>
            <a:pPr algn="l"/>
            <a:r>
              <a:rPr lang="en-US" sz="2000">
                <a:solidFill>
                  <a:schemeClr val="bg1"/>
                </a:solidFill>
              </a:rPr>
              <a:t>Vaibhav Vaiyakarnam</a:t>
            </a:r>
          </a:p>
          <a:p>
            <a:pPr algn="l"/>
            <a:r>
              <a:rPr lang="en-US" sz="2000">
                <a:solidFill>
                  <a:schemeClr val="bg1"/>
                </a:solidFill>
              </a:rPr>
              <a:t>Chemistry 221B, Spring 2026</a:t>
            </a:r>
          </a:p>
        </p:txBody>
      </p:sp>
      <p:sp>
        <p:nvSpPr>
          <p:cNvPr id="1035" name="Rectangle 103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37" name="Rectangle 103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5885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1A798-9FDC-BC45-0070-7BFD56D06F83}"/>
              </a:ext>
            </a:extLst>
          </p:cNvPr>
          <p:cNvSpPr>
            <a:spLocks noGrp="1"/>
          </p:cNvSpPr>
          <p:nvPr>
            <p:ph type="title"/>
          </p:nvPr>
        </p:nvSpPr>
        <p:spPr>
          <a:xfrm>
            <a:off x="619837" y="-51131"/>
            <a:ext cx="10515600" cy="1325563"/>
          </a:xfrm>
        </p:spPr>
        <p:txBody>
          <a:bodyPr/>
          <a:lstStyle/>
          <a:p>
            <a:r>
              <a:rPr lang="en-US" dirty="0"/>
              <a:t>Motivation: Exciton-Photon Polariton Coupling</a:t>
            </a:r>
          </a:p>
        </p:txBody>
      </p:sp>
      <p:pic>
        <p:nvPicPr>
          <p:cNvPr id="7" name="Picture 6" descr="The image illustrates the energy absorption and emission profiles within a cavity structure, showing the differences between inside and outside cavity states and their corresponding dark and light states.&#10;&#10;AI-generated content may be incorrect.">
            <a:extLst>
              <a:ext uri="{FF2B5EF4-FFF2-40B4-BE49-F238E27FC236}">
                <a16:creationId xmlns:a16="http://schemas.microsoft.com/office/drawing/2014/main" id="{E0A31E15-9863-DAF7-881E-AE9C7DDCBEA8}"/>
              </a:ext>
            </a:extLst>
          </p:cNvPr>
          <p:cNvPicPr>
            <a:picLocks noChangeAspect="1"/>
          </p:cNvPicPr>
          <p:nvPr/>
        </p:nvPicPr>
        <p:blipFill>
          <a:blip r:embed="rId2"/>
          <a:stretch>
            <a:fillRect/>
          </a:stretch>
        </p:blipFill>
        <p:spPr>
          <a:xfrm>
            <a:off x="156949" y="1431381"/>
            <a:ext cx="4050227" cy="2464758"/>
          </a:xfrm>
          <a:prstGeom prst="rect">
            <a:avLst/>
          </a:prstGeom>
        </p:spPr>
      </p:pic>
      <p:pic>
        <p:nvPicPr>
          <p:cNvPr id="9" name="Picture 8" descr="The image is a plot showing energy levels (in electron volts) on the y-axis, with various energy states labeled including 'Cavity' at 2.6 eV, 'Exciton' at 2.4 eV, and 'LPB' at 2.2 eV, and detuning values on the x-axis ranging from -0.15 eV to 0.15 eV.&#10;&#10;AI-generated content may be incorrect.">
            <a:extLst>
              <a:ext uri="{FF2B5EF4-FFF2-40B4-BE49-F238E27FC236}">
                <a16:creationId xmlns:a16="http://schemas.microsoft.com/office/drawing/2014/main" id="{2EA12B40-381C-E678-8617-D5770F0EC349}"/>
              </a:ext>
            </a:extLst>
          </p:cNvPr>
          <p:cNvPicPr>
            <a:picLocks noChangeAspect="1"/>
          </p:cNvPicPr>
          <p:nvPr/>
        </p:nvPicPr>
        <p:blipFill>
          <a:blip r:embed="rId3"/>
          <a:stretch>
            <a:fillRect/>
          </a:stretch>
        </p:blipFill>
        <p:spPr>
          <a:xfrm>
            <a:off x="4564099" y="1503981"/>
            <a:ext cx="3063801" cy="2319558"/>
          </a:xfrm>
          <a:prstGeom prst="rect">
            <a:avLst/>
          </a:prstGeom>
        </p:spPr>
      </p:pic>
      <p:sp>
        <p:nvSpPr>
          <p:cNvPr id="10" name="TextBox 9">
            <a:extLst>
              <a:ext uri="{FF2B5EF4-FFF2-40B4-BE49-F238E27FC236}">
                <a16:creationId xmlns:a16="http://schemas.microsoft.com/office/drawing/2014/main" id="{C2501B57-3A61-DDF2-D13C-BCB47822B2D0}"/>
              </a:ext>
            </a:extLst>
          </p:cNvPr>
          <p:cNvSpPr txBox="1"/>
          <p:nvPr/>
        </p:nvSpPr>
        <p:spPr>
          <a:xfrm>
            <a:off x="519619" y="4437704"/>
            <a:ext cx="7826991" cy="2308324"/>
          </a:xfrm>
          <a:prstGeom prst="rect">
            <a:avLst/>
          </a:prstGeom>
          <a:noFill/>
        </p:spPr>
        <p:txBody>
          <a:bodyPr wrap="square" rtlCol="0">
            <a:spAutoFit/>
          </a:bodyPr>
          <a:lstStyle/>
          <a:p>
            <a:pPr marL="285750" indent="-285750">
              <a:buFont typeface="Arial" panose="020B0604020202020204" pitchFamily="34" charset="0"/>
              <a:buChar char="•"/>
            </a:pPr>
            <a:r>
              <a:rPr lang="en-US" dirty="0"/>
              <a:t>Weak-field: Light absorbed by molecule and emitted, can be treated classically and separate from the electron</a:t>
            </a:r>
          </a:p>
          <a:p>
            <a:pPr marL="285750" indent="-285750">
              <a:buFont typeface="Arial" panose="020B0604020202020204" pitchFamily="34" charset="0"/>
              <a:buChar char="•"/>
            </a:pPr>
            <a:r>
              <a:rPr lang="en-US" dirty="0"/>
              <a:t>Strong-field: Light, as photons, </a:t>
            </a:r>
            <a:r>
              <a:rPr lang="en-US" b="1" dirty="0"/>
              <a:t>hybridizes</a:t>
            </a:r>
            <a:r>
              <a:rPr lang="en-US" dirty="0"/>
              <a:t> its energies with that of the molecule</a:t>
            </a:r>
          </a:p>
          <a:p>
            <a:pPr marL="285750" indent="-285750">
              <a:buFont typeface="Arial" panose="020B0604020202020204" pitchFamily="34" charset="0"/>
              <a:buChar char="•"/>
            </a:pPr>
            <a:r>
              <a:rPr lang="en-US" dirty="0"/>
              <a:t>Leads to long, large-scale coupling across macroscopic distances between molecules in an ‘optical cavity’ </a:t>
            </a:r>
          </a:p>
          <a:p>
            <a:pPr marL="285750" indent="-285750">
              <a:buFont typeface="Arial" panose="020B0604020202020204" pitchFamily="34" charset="0"/>
              <a:buChar char="•"/>
            </a:pPr>
            <a:r>
              <a:rPr lang="en-US" dirty="0"/>
              <a:t>Interference between resonant photon cavity modes and exciton frequency causes splitting of energy states into </a:t>
            </a:r>
            <a:r>
              <a:rPr lang="en-US" b="1" dirty="0"/>
              <a:t>polaritons</a:t>
            </a:r>
            <a:endParaRPr lang="en-US" dirty="0"/>
          </a:p>
        </p:txBody>
      </p:sp>
      <p:pic>
        <p:nvPicPr>
          <p:cNvPr id="12" name="Picture 11" descr="The image appears to display an equation related to quantum mechanics or physics, involving variables such as energy (E), Planck's constant (h), and wave vector (k), along with terms for probability amplitude (P), spin (g), and some other symbols that might represent quantum states.&#10;&#10;AI-generated content may be incorrect.">
            <a:extLst>
              <a:ext uri="{FF2B5EF4-FFF2-40B4-BE49-F238E27FC236}">
                <a16:creationId xmlns:a16="http://schemas.microsoft.com/office/drawing/2014/main" id="{4635448D-5D75-3D38-ED77-3747E7D9027E}"/>
              </a:ext>
            </a:extLst>
          </p:cNvPr>
          <p:cNvPicPr>
            <a:picLocks noChangeAspect="1"/>
          </p:cNvPicPr>
          <p:nvPr/>
        </p:nvPicPr>
        <p:blipFill>
          <a:blip r:embed="rId4"/>
          <a:stretch>
            <a:fillRect/>
          </a:stretch>
        </p:blipFill>
        <p:spPr>
          <a:xfrm>
            <a:off x="8684008" y="4190689"/>
            <a:ext cx="3071180" cy="2564592"/>
          </a:xfrm>
          <a:prstGeom prst="rect">
            <a:avLst/>
          </a:prstGeom>
        </p:spPr>
      </p:pic>
      <p:pic>
        <p:nvPicPr>
          <p:cNvPr id="4098" name="Picture 2" descr="Fabry-Perot cavity (INTERCONNECT) – Ansys Optics">
            <a:extLst>
              <a:ext uri="{FF2B5EF4-FFF2-40B4-BE49-F238E27FC236}">
                <a16:creationId xmlns:a16="http://schemas.microsoft.com/office/drawing/2014/main" id="{14BA94AE-CA8F-8AE2-E82C-5E9CBA8A02F8}"/>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7984823" y="1617118"/>
            <a:ext cx="3675713" cy="2031324"/>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2931DE17-F5A3-D046-091A-59056A879395}"/>
              </a:ext>
            </a:extLst>
          </p:cNvPr>
          <p:cNvSpPr txBox="1"/>
          <p:nvPr/>
        </p:nvSpPr>
        <p:spPr>
          <a:xfrm>
            <a:off x="4974466" y="3828367"/>
            <a:ext cx="4050227" cy="553998"/>
          </a:xfrm>
          <a:prstGeom prst="rect">
            <a:avLst/>
          </a:prstGeom>
          <a:noFill/>
        </p:spPr>
        <p:txBody>
          <a:bodyPr wrap="square" rtlCol="0">
            <a:spAutoFit/>
          </a:bodyPr>
          <a:lstStyle/>
          <a:p>
            <a:r>
              <a:rPr lang="en-US" sz="1000" dirty="0"/>
              <a:t>Laitz, M., et al</a:t>
            </a:r>
            <a:r>
              <a:rPr lang="en-US" sz="1000" i="1" dirty="0"/>
              <a:t>.</a:t>
            </a:r>
            <a:r>
              <a:rPr lang="en-US" sz="1000" dirty="0"/>
              <a:t> </a:t>
            </a:r>
            <a:r>
              <a:rPr lang="en-US" sz="1000" i="1" dirty="0"/>
              <a:t>Nat Commun</a:t>
            </a:r>
            <a:r>
              <a:rPr lang="en-US" sz="1000" dirty="0"/>
              <a:t> </a:t>
            </a:r>
            <a:r>
              <a:rPr lang="en-US" sz="1000" b="1" dirty="0"/>
              <a:t>14</a:t>
            </a:r>
            <a:r>
              <a:rPr lang="en-US" sz="1000" dirty="0"/>
              <a:t>, 2426 (2023). </a:t>
            </a:r>
            <a:r>
              <a:rPr lang="en-US" sz="1000" dirty="0">
                <a:hlinkClick r:id="rId6"/>
              </a:rPr>
              <a:t>https://doi.org/10.1038/s41467-023-37772-7</a:t>
            </a:r>
            <a:endParaRPr lang="en-US" sz="1000" dirty="0"/>
          </a:p>
          <a:p>
            <a:endParaRPr lang="en-US" sz="1000" dirty="0"/>
          </a:p>
        </p:txBody>
      </p:sp>
      <p:sp>
        <p:nvSpPr>
          <p:cNvPr id="14" name="TextBox 13">
            <a:extLst>
              <a:ext uri="{FF2B5EF4-FFF2-40B4-BE49-F238E27FC236}">
                <a16:creationId xmlns:a16="http://schemas.microsoft.com/office/drawing/2014/main" id="{93513200-E878-341A-5815-0C22845B47B9}"/>
              </a:ext>
            </a:extLst>
          </p:cNvPr>
          <p:cNvSpPr txBox="1"/>
          <p:nvPr/>
        </p:nvSpPr>
        <p:spPr>
          <a:xfrm>
            <a:off x="519619" y="3951478"/>
            <a:ext cx="4050227" cy="553998"/>
          </a:xfrm>
          <a:prstGeom prst="rect">
            <a:avLst/>
          </a:prstGeom>
          <a:noFill/>
        </p:spPr>
        <p:txBody>
          <a:bodyPr wrap="square" rtlCol="0">
            <a:spAutoFit/>
          </a:bodyPr>
          <a:lstStyle/>
          <a:p>
            <a:r>
              <a:rPr lang="en-US" sz="1000" dirty="0"/>
              <a:t>Mandal, A., et al </a:t>
            </a:r>
            <a:r>
              <a:rPr lang="en-US" sz="1000" i="1" dirty="0"/>
              <a:t>Chemical Reviews</a:t>
            </a:r>
            <a:r>
              <a:rPr lang="en-US" sz="1000" dirty="0"/>
              <a:t> </a:t>
            </a:r>
            <a:r>
              <a:rPr lang="en-US" sz="1000" b="1" dirty="0"/>
              <a:t>123 (16)</a:t>
            </a:r>
            <a:r>
              <a:rPr lang="en-US" sz="1000" dirty="0"/>
              <a:t>, 9786-9879 (2023).</a:t>
            </a:r>
          </a:p>
          <a:p>
            <a:r>
              <a:rPr lang="en-US" sz="1000" dirty="0">
                <a:hlinkClick r:id="rId7"/>
              </a:rPr>
              <a:t>https://doi.org/10.1021/acs.chemrev.2c00855</a:t>
            </a:r>
            <a:endParaRPr lang="en-US" sz="1000" dirty="0"/>
          </a:p>
          <a:p>
            <a:endParaRPr lang="en-US" sz="1000" dirty="0"/>
          </a:p>
        </p:txBody>
      </p:sp>
      <p:sp>
        <p:nvSpPr>
          <p:cNvPr id="16" name="Slide Number Placeholder 15">
            <a:extLst>
              <a:ext uri="{FF2B5EF4-FFF2-40B4-BE49-F238E27FC236}">
                <a16:creationId xmlns:a16="http://schemas.microsoft.com/office/drawing/2014/main" id="{BEC10BAF-7E0E-7916-4F50-3AF4E32F7F0E}"/>
              </a:ext>
            </a:extLst>
          </p:cNvPr>
          <p:cNvSpPr>
            <a:spLocks noGrp="1"/>
          </p:cNvSpPr>
          <p:nvPr>
            <p:ph type="sldNum" sz="quarter" idx="12"/>
          </p:nvPr>
        </p:nvSpPr>
        <p:spPr/>
        <p:txBody>
          <a:bodyPr/>
          <a:lstStyle/>
          <a:p>
            <a:fld id="{915BFE24-F66A-465D-89F5-7F8A03242D8E}" type="slidenum">
              <a:rPr lang="en-US" smtClean="0"/>
              <a:t>2</a:t>
            </a:fld>
            <a:endParaRPr lang="en-US"/>
          </a:p>
        </p:txBody>
      </p:sp>
    </p:spTree>
    <p:extLst>
      <p:ext uri="{BB962C8B-B14F-4D97-AF65-F5344CB8AC3E}">
        <p14:creationId xmlns:p14="http://schemas.microsoft.com/office/powerpoint/2010/main" val="3815357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2C4E0-8C49-F3FA-7553-A3364EE65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26374-20B3-0588-26DA-F7A986C4996D}"/>
              </a:ext>
            </a:extLst>
          </p:cNvPr>
          <p:cNvSpPr>
            <a:spLocks noGrp="1"/>
          </p:cNvSpPr>
          <p:nvPr>
            <p:ph type="title"/>
          </p:nvPr>
        </p:nvSpPr>
        <p:spPr>
          <a:xfrm>
            <a:off x="619837" y="-51131"/>
            <a:ext cx="10515600" cy="1325563"/>
          </a:xfrm>
        </p:spPr>
        <p:txBody>
          <a:bodyPr/>
          <a:lstStyle/>
          <a:p>
            <a:r>
              <a:rPr lang="en-US" dirty="0"/>
              <a:t>Review – TD-DFT and Casida Formulation</a:t>
            </a:r>
          </a:p>
        </p:txBody>
      </p:sp>
      <p:sp>
        <p:nvSpPr>
          <p:cNvPr id="3" name="TextBox 2">
            <a:extLst>
              <a:ext uri="{FF2B5EF4-FFF2-40B4-BE49-F238E27FC236}">
                <a16:creationId xmlns:a16="http://schemas.microsoft.com/office/drawing/2014/main" id="{7E86B110-5D73-2278-A93E-7C9BEB52A428}"/>
              </a:ext>
            </a:extLst>
          </p:cNvPr>
          <p:cNvSpPr txBox="1"/>
          <p:nvPr/>
        </p:nvSpPr>
        <p:spPr>
          <a:xfrm>
            <a:off x="619837" y="1089766"/>
            <a:ext cx="5576247" cy="646331"/>
          </a:xfrm>
          <a:prstGeom prst="rect">
            <a:avLst/>
          </a:prstGeom>
          <a:noFill/>
        </p:spPr>
        <p:txBody>
          <a:bodyPr wrap="square" rtlCol="0">
            <a:spAutoFit/>
          </a:bodyPr>
          <a:lstStyle/>
          <a:p>
            <a:pPr algn="ctr"/>
            <a:r>
              <a:rPr lang="en-US" dirty="0"/>
              <a:t>Linear response of inexact wavefunction/density when in a weak field </a:t>
            </a:r>
          </a:p>
        </p:txBody>
      </p:sp>
      <p:pic>
        <p:nvPicPr>
          <p:cNvPr id="5" name="Picture 4" descr="The provided text seems to be a mathematical expression or a series of symbols that may be part of a larger mathematical or physics diagram. However, without an actual image, I can't provide a description. If you have an image, please provide it, and I'll be glad to describe it for you.&#10;&#10;AI-generated content may be incorrect.">
            <a:extLst>
              <a:ext uri="{FF2B5EF4-FFF2-40B4-BE49-F238E27FC236}">
                <a16:creationId xmlns:a16="http://schemas.microsoft.com/office/drawing/2014/main" id="{310D3197-C44B-BDC5-A563-0D2E28F9D24C}"/>
              </a:ext>
            </a:extLst>
          </p:cNvPr>
          <p:cNvPicPr>
            <a:picLocks noChangeAspect="1"/>
          </p:cNvPicPr>
          <p:nvPr/>
        </p:nvPicPr>
        <p:blipFill>
          <a:blip r:embed="rId2"/>
          <a:stretch>
            <a:fillRect/>
          </a:stretch>
        </p:blipFill>
        <p:spPr>
          <a:xfrm>
            <a:off x="723204" y="3754259"/>
            <a:ext cx="4535991" cy="789542"/>
          </a:xfrm>
          <a:prstGeom prst="rect">
            <a:avLst/>
          </a:prstGeom>
          <a:ln>
            <a:solidFill>
              <a:schemeClr val="tx1"/>
            </a:solidFill>
          </a:ln>
        </p:spPr>
      </p:pic>
      <p:pic>
        <p:nvPicPr>
          <p:cNvPr id="8" name="Picture 7" descr="The image depicts a mathematical equation where Aai,bj is equal to (Ea - Ei) multiplied by dab and then added to Kai,bj, and Bai,bj is equal to Kai,jb.&#10;&#10;AI-generated content may be incorrect.">
            <a:extLst>
              <a:ext uri="{FF2B5EF4-FFF2-40B4-BE49-F238E27FC236}">
                <a16:creationId xmlns:a16="http://schemas.microsoft.com/office/drawing/2014/main" id="{9BD93B55-E631-B094-1ACC-A76EF5C98CA8}"/>
              </a:ext>
            </a:extLst>
          </p:cNvPr>
          <p:cNvPicPr>
            <a:picLocks noChangeAspect="1"/>
          </p:cNvPicPr>
          <p:nvPr/>
        </p:nvPicPr>
        <p:blipFill>
          <a:blip r:embed="rId3"/>
          <a:stretch>
            <a:fillRect/>
          </a:stretch>
        </p:blipFill>
        <p:spPr>
          <a:xfrm>
            <a:off x="723204" y="4940661"/>
            <a:ext cx="4314461" cy="1026424"/>
          </a:xfrm>
          <a:prstGeom prst="rect">
            <a:avLst/>
          </a:prstGeom>
        </p:spPr>
      </p:pic>
      <p:pic>
        <p:nvPicPr>
          <p:cNvPr id="13" name="Picture 12" descr="The image depicts a mathematical expression involving a function y(r,t) with an exponential term, a sum of products, and integrals, suggesting a relationship between variables and parameters.&#10;&#10;AI-generated content may be incorrect.">
            <a:extLst>
              <a:ext uri="{FF2B5EF4-FFF2-40B4-BE49-F238E27FC236}">
                <a16:creationId xmlns:a16="http://schemas.microsoft.com/office/drawing/2014/main" id="{44B8A246-898B-5142-A63B-F4FABB5A5528}"/>
              </a:ext>
            </a:extLst>
          </p:cNvPr>
          <p:cNvPicPr>
            <a:picLocks noChangeAspect="1"/>
          </p:cNvPicPr>
          <p:nvPr/>
        </p:nvPicPr>
        <p:blipFill>
          <a:blip r:embed="rId4"/>
          <a:stretch>
            <a:fillRect/>
          </a:stretch>
        </p:blipFill>
        <p:spPr>
          <a:xfrm>
            <a:off x="723204" y="1671292"/>
            <a:ext cx="4520442" cy="1844791"/>
          </a:xfrm>
          <a:prstGeom prst="rect">
            <a:avLst/>
          </a:prstGeom>
        </p:spPr>
      </p:pic>
      <p:cxnSp>
        <p:nvCxnSpPr>
          <p:cNvPr id="15" name="Straight Connector 14">
            <a:extLst>
              <a:ext uri="{FF2B5EF4-FFF2-40B4-BE49-F238E27FC236}">
                <a16:creationId xmlns:a16="http://schemas.microsoft.com/office/drawing/2014/main" id="{3E43CE13-EAE9-893F-B066-050A94175CFE}"/>
              </a:ext>
            </a:extLst>
          </p:cNvPr>
          <p:cNvCxnSpPr/>
          <p:nvPr/>
        </p:nvCxnSpPr>
        <p:spPr>
          <a:xfrm>
            <a:off x="6257677" y="1558456"/>
            <a:ext cx="0" cy="489005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C65B6848-67AC-9104-7390-E7A36093C158}"/>
              </a:ext>
            </a:extLst>
          </p:cNvPr>
          <p:cNvSpPr txBox="1"/>
          <p:nvPr/>
        </p:nvSpPr>
        <p:spPr>
          <a:xfrm>
            <a:off x="6196084" y="1558456"/>
            <a:ext cx="5576247" cy="923330"/>
          </a:xfrm>
          <a:prstGeom prst="rect">
            <a:avLst/>
          </a:prstGeom>
          <a:noFill/>
        </p:spPr>
        <p:txBody>
          <a:bodyPr wrap="square" rtlCol="0">
            <a:spAutoFit/>
          </a:bodyPr>
          <a:lstStyle/>
          <a:p>
            <a:pPr algn="ctr"/>
            <a:r>
              <a:rPr lang="en-US" b="1" dirty="0"/>
              <a:t>Tamm-</a:t>
            </a:r>
            <a:r>
              <a:rPr lang="en-US" b="1" dirty="0" err="1"/>
              <a:t>Dancoff</a:t>
            </a:r>
            <a:r>
              <a:rPr lang="en-US" b="1" dirty="0"/>
              <a:t> Approximation (TDA): </a:t>
            </a:r>
          </a:p>
          <a:p>
            <a:pPr algn="ctr"/>
            <a:r>
              <a:rPr lang="en-US" dirty="0"/>
              <a:t>No deexcitations – Y = 0. </a:t>
            </a:r>
          </a:p>
          <a:p>
            <a:pPr algn="ctr"/>
            <a:endParaRPr lang="en-US" dirty="0"/>
          </a:p>
        </p:txBody>
      </p:sp>
      <p:pic>
        <p:nvPicPr>
          <p:cNvPr id="18" name="Picture 17" descr="The image depicts an equation with mathematical symbols, specifically the Latin alphabet letters 'A' and 'X' (AX) on the left side and 'I' and 'X' (IX) on the right side, suggesting an equality or an equation.&#10;&#10;AI-generated content may be incorrect.">
            <a:extLst>
              <a:ext uri="{FF2B5EF4-FFF2-40B4-BE49-F238E27FC236}">
                <a16:creationId xmlns:a16="http://schemas.microsoft.com/office/drawing/2014/main" id="{AEE281EA-063C-3BE9-5234-57778CB5CCB6}"/>
              </a:ext>
            </a:extLst>
          </p:cNvPr>
          <p:cNvPicPr>
            <a:picLocks noChangeAspect="1"/>
          </p:cNvPicPr>
          <p:nvPr/>
        </p:nvPicPr>
        <p:blipFill>
          <a:blip r:embed="rId5"/>
          <a:stretch>
            <a:fillRect/>
          </a:stretch>
        </p:blipFill>
        <p:spPr>
          <a:xfrm>
            <a:off x="8088850" y="2286522"/>
            <a:ext cx="1790713" cy="390528"/>
          </a:xfrm>
          <a:prstGeom prst="rect">
            <a:avLst/>
          </a:prstGeom>
          <a:ln>
            <a:solidFill>
              <a:schemeClr val="tx1"/>
            </a:solidFill>
          </a:ln>
        </p:spPr>
      </p:pic>
      <p:sp>
        <p:nvSpPr>
          <p:cNvPr id="21" name="TextBox 20">
            <a:extLst>
              <a:ext uri="{FF2B5EF4-FFF2-40B4-BE49-F238E27FC236}">
                <a16:creationId xmlns:a16="http://schemas.microsoft.com/office/drawing/2014/main" id="{1EEBFDFB-0AED-DED4-FBD8-16FA61A37158}"/>
              </a:ext>
            </a:extLst>
          </p:cNvPr>
          <p:cNvSpPr txBox="1"/>
          <p:nvPr/>
        </p:nvSpPr>
        <p:spPr>
          <a:xfrm>
            <a:off x="6319271" y="3083553"/>
            <a:ext cx="5576247" cy="1754326"/>
          </a:xfrm>
          <a:prstGeom prst="rect">
            <a:avLst/>
          </a:prstGeom>
          <a:noFill/>
        </p:spPr>
        <p:txBody>
          <a:bodyPr wrap="square" rtlCol="0">
            <a:spAutoFit/>
          </a:bodyPr>
          <a:lstStyle/>
          <a:p>
            <a:pPr marL="285750" indent="-285750" algn="ctr">
              <a:buFont typeface="Arial" panose="020B0604020202020204" pitchFamily="34" charset="0"/>
              <a:buChar char="•"/>
            </a:pPr>
            <a:r>
              <a:rPr lang="en-US" dirty="0"/>
              <a:t>Simplification of TD-DFT</a:t>
            </a:r>
          </a:p>
          <a:p>
            <a:pPr marL="285750" indent="-285750" algn="ctr">
              <a:buFont typeface="Arial" panose="020B0604020202020204" pitchFamily="34" charset="0"/>
              <a:buChar char="•"/>
            </a:pPr>
            <a:r>
              <a:rPr lang="en-US" dirty="0"/>
              <a:t>Generally, all right if a process only requires the behavior of two major states</a:t>
            </a:r>
          </a:p>
          <a:p>
            <a:pPr marL="285750" indent="-285750" algn="ctr">
              <a:buFont typeface="Arial" panose="020B0604020202020204" pitchFamily="34" charset="0"/>
              <a:buChar char="•"/>
            </a:pPr>
            <a:r>
              <a:rPr lang="en-US" dirty="0"/>
              <a:t>Not that high of an error when compared to normal TD-DFT for non-pathological molecules</a:t>
            </a:r>
          </a:p>
          <a:p>
            <a:pPr algn="ctr"/>
            <a:endParaRPr lang="en-US" dirty="0"/>
          </a:p>
        </p:txBody>
      </p:sp>
      <p:sp>
        <p:nvSpPr>
          <p:cNvPr id="23" name="Slide Number Placeholder 22">
            <a:extLst>
              <a:ext uri="{FF2B5EF4-FFF2-40B4-BE49-F238E27FC236}">
                <a16:creationId xmlns:a16="http://schemas.microsoft.com/office/drawing/2014/main" id="{EB520FB4-8B46-D5D0-6257-15D7F586635F}"/>
              </a:ext>
            </a:extLst>
          </p:cNvPr>
          <p:cNvSpPr>
            <a:spLocks noGrp="1"/>
          </p:cNvSpPr>
          <p:nvPr>
            <p:ph type="sldNum" sz="quarter" idx="12"/>
          </p:nvPr>
        </p:nvSpPr>
        <p:spPr/>
        <p:txBody>
          <a:bodyPr/>
          <a:lstStyle/>
          <a:p>
            <a:fld id="{915BFE24-F66A-465D-89F5-7F8A03242D8E}" type="slidenum">
              <a:rPr lang="en-US" smtClean="0"/>
              <a:t>3</a:t>
            </a:fld>
            <a:endParaRPr lang="en-US"/>
          </a:p>
        </p:txBody>
      </p:sp>
    </p:spTree>
    <p:extLst>
      <p:ext uri="{BB962C8B-B14F-4D97-AF65-F5344CB8AC3E}">
        <p14:creationId xmlns:p14="http://schemas.microsoft.com/office/powerpoint/2010/main" val="2114892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F53B8-6FAD-E426-3F0D-E976428453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65F725-3701-E9A5-03E9-10AA29022FCD}"/>
              </a:ext>
            </a:extLst>
          </p:cNvPr>
          <p:cNvSpPr>
            <a:spLocks noGrp="1"/>
          </p:cNvSpPr>
          <p:nvPr>
            <p:ph type="title"/>
          </p:nvPr>
        </p:nvSpPr>
        <p:spPr>
          <a:xfrm>
            <a:off x="619837" y="-51131"/>
            <a:ext cx="10515600" cy="1325563"/>
          </a:xfrm>
        </p:spPr>
        <p:txBody>
          <a:bodyPr/>
          <a:lstStyle/>
          <a:p>
            <a:r>
              <a:rPr lang="en-US" dirty="0"/>
              <a:t>Pauli-</a:t>
            </a:r>
            <a:r>
              <a:rPr lang="en-US" dirty="0" err="1"/>
              <a:t>Fierz</a:t>
            </a:r>
            <a:r>
              <a:rPr lang="en-US" dirty="0"/>
              <a:t> Hamiltonian – Quantizing Photons</a:t>
            </a:r>
          </a:p>
        </p:txBody>
      </p:sp>
      <p:sp>
        <p:nvSpPr>
          <p:cNvPr id="16" name="TextBox 15">
            <a:extLst>
              <a:ext uri="{FF2B5EF4-FFF2-40B4-BE49-F238E27FC236}">
                <a16:creationId xmlns:a16="http://schemas.microsoft.com/office/drawing/2014/main" id="{0C6DAD01-E4A8-675A-AE9E-20887E2507B6}"/>
              </a:ext>
            </a:extLst>
          </p:cNvPr>
          <p:cNvSpPr txBox="1"/>
          <p:nvPr/>
        </p:nvSpPr>
        <p:spPr>
          <a:xfrm>
            <a:off x="301390" y="1121727"/>
            <a:ext cx="10125500" cy="1754326"/>
          </a:xfrm>
          <a:prstGeom prst="rect">
            <a:avLst/>
          </a:prstGeom>
          <a:noFill/>
        </p:spPr>
        <p:txBody>
          <a:bodyPr wrap="square" rtlCol="0">
            <a:spAutoFit/>
          </a:bodyPr>
          <a:lstStyle/>
          <a:p>
            <a:pPr marL="285750" indent="-285750">
              <a:buFont typeface="Arial" panose="020B0604020202020204" pitchFamily="34" charset="0"/>
              <a:buChar char="•"/>
            </a:pPr>
            <a:r>
              <a:rPr lang="en-US" dirty="0"/>
              <a:t>Total Hamiltonian = molecular Hamiltonian + the EM field Hamiltonian + interaction terms that arise from “</a:t>
            </a:r>
            <a:r>
              <a:rPr lang="en-US" b="1" dirty="0"/>
              <a:t>covariant derivatives</a:t>
            </a:r>
            <a:r>
              <a:rPr lang="en-US" dirty="0"/>
              <a:t>” that couple electrons to EM to preserve gauge invariance</a:t>
            </a:r>
          </a:p>
          <a:p>
            <a:r>
              <a:rPr lang="en-US" dirty="0"/>
              <a:t>(as seen in class and hinted at in HW)</a:t>
            </a:r>
          </a:p>
          <a:p>
            <a:pPr marL="285750" indent="-285750">
              <a:buFont typeface="Arial" panose="020B0604020202020204" pitchFamily="34" charset="0"/>
              <a:buChar char="•"/>
            </a:pPr>
            <a:r>
              <a:rPr lang="en-US" dirty="0"/>
              <a:t>Weak field – leave the light as a classical wave</a:t>
            </a:r>
          </a:p>
          <a:p>
            <a:pPr marL="285750" indent="-285750">
              <a:buFont typeface="Arial" panose="020B0604020202020204" pitchFamily="34" charset="0"/>
              <a:buChar char="•"/>
            </a:pPr>
            <a:r>
              <a:rPr lang="en-US" dirty="0"/>
              <a:t>Strong field – Light is composed of </a:t>
            </a:r>
            <a:r>
              <a:rPr lang="en-US" b="1" dirty="0"/>
              <a:t>photons</a:t>
            </a:r>
            <a:r>
              <a:rPr lang="en-US" dirty="0"/>
              <a:t> of different modes – quantize A</a:t>
            </a:r>
          </a:p>
          <a:p>
            <a:pPr algn="ctr"/>
            <a:endParaRPr lang="en-US" dirty="0"/>
          </a:p>
        </p:txBody>
      </p:sp>
      <p:pic>
        <p:nvPicPr>
          <p:cNvPr id="6" name="Picture 5" descr="The image depicts an equation with variables and mathematical symbols, including summation, an interaction term, and a field term.&#10;&#10;AI-generated content may be incorrect.">
            <a:extLst>
              <a:ext uri="{FF2B5EF4-FFF2-40B4-BE49-F238E27FC236}">
                <a16:creationId xmlns:a16="http://schemas.microsoft.com/office/drawing/2014/main" id="{9B715004-961E-E6C8-69CB-50EB9D233F1F}"/>
              </a:ext>
            </a:extLst>
          </p:cNvPr>
          <p:cNvPicPr>
            <a:picLocks noChangeAspect="1"/>
          </p:cNvPicPr>
          <p:nvPr/>
        </p:nvPicPr>
        <p:blipFill>
          <a:blip r:embed="rId2"/>
          <a:stretch>
            <a:fillRect/>
          </a:stretch>
        </p:blipFill>
        <p:spPr>
          <a:xfrm>
            <a:off x="415121" y="2634155"/>
            <a:ext cx="6086520" cy="733430"/>
          </a:xfrm>
          <a:prstGeom prst="rect">
            <a:avLst/>
          </a:prstGeom>
        </p:spPr>
      </p:pic>
      <p:pic>
        <p:nvPicPr>
          <p:cNvPr id="9" name="Picture 8" descr="The image depicts an equation representing the relationship between a variable A and another variable Aa, including additional terms involving constants Ba and b%.&#10;&#10;AI-generated content may be incorrect.">
            <a:extLst>
              <a:ext uri="{FF2B5EF4-FFF2-40B4-BE49-F238E27FC236}">
                <a16:creationId xmlns:a16="http://schemas.microsoft.com/office/drawing/2014/main" id="{39BBEEB8-82F9-DC40-D46D-CDD94CA37E5F}"/>
              </a:ext>
            </a:extLst>
          </p:cNvPr>
          <p:cNvPicPr>
            <a:picLocks noChangeAspect="1"/>
          </p:cNvPicPr>
          <p:nvPr/>
        </p:nvPicPr>
        <p:blipFill>
          <a:blip r:embed="rId3"/>
          <a:stretch>
            <a:fillRect/>
          </a:stretch>
        </p:blipFill>
        <p:spPr>
          <a:xfrm>
            <a:off x="7878983" y="2677949"/>
            <a:ext cx="3457598" cy="733430"/>
          </a:xfrm>
          <a:prstGeom prst="rect">
            <a:avLst/>
          </a:prstGeom>
        </p:spPr>
      </p:pic>
      <p:pic>
        <p:nvPicPr>
          <p:cNvPr id="11" name="Picture 10" descr="The image depicts an equation with symbols and variables: ￄﾤ equals X times WA times B times the square root of a, plus 1, followed by 2.&#10;&#10;AI-generated content may be incorrect.">
            <a:extLst>
              <a:ext uri="{FF2B5EF4-FFF2-40B4-BE49-F238E27FC236}">
                <a16:creationId xmlns:a16="http://schemas.microsoft.com/office/drawing/2014/main" id="{451A1140-D651-C7D5-4869-53E3D1EE5A8E}"/>
              </a:ext>
            </a:extLst>
          </p:cNvPr>
          <p:cNvPicPr>
            <a:picLocks noChangeAspect="1"/>
          </p:cNvPicPr>
          <p:nvPr/>
        </p:nvPicPr>
        <p:blipFill>
          <a:blip r:embed="rId4"/>
          <a:stretch>
            <a:fillRect/>
          </a:stretch>
        </p:blipFill>
        <p:spPr>
          <a:xfrm>
            <a:off x="506905" y="3429000"/>
            <a:ext cx="2863229" cy="847772"/>
          </a:xfrm>
          <a:prstGeom prst="rect">
            <a:avLst/>
          </a:prstGeom>
        </p:spPr>
      </p:pic>
      <p:pic>
        <p:nvPicPr>
          <p:cNvPr id="14" name="Picture 13" descr="The image depicts a mathematical expression with variables and symbols, including an equation relating the variables 'V,' 'W,' and 'H' to other parameters, with 'i1' and 'ph' possibly representing imaginary numbers or phase quantities.&#10;&#10;AI-generated content may be incorrect.">
            <a:extLst>
              <a:ext uri="{FF2B5EF4-FFF2-40B4-BE49-F238E27FC236}">
                <a16:creationId xmlns:a16="http://schemas.microsoft.com/office/drawing/2014/main" id="{BADCA587-012C-3B18-D7D2-3169EF231C59}"/>
              </a:ext>
            </a:extLst>
          </p:cNvPr>
          <p:cNvPicPr>
            <a:picLocks noChangeAspect="1"/>
          </p:cNvPicPr>
          <p:nvPr/>
        </p:nvPicPr>
        <p:blipFill>
          <a:blip r:embed="rId5"/>
          <a:stretch>
            <a:fillRect/>
          </a:stretch>
        </p:blipFill>
        <p:spPr>
          <a:xfrm>
            <a:off x="174056" y="4302945"/>
            <a:ext cx="3284325" cy="2455116"/>
          </a:xfrm>
          <a:prstGeom prst="rect">
            <a:avLst/>
          </a:prstGeom>
        </p:spPr>
      </p:pic>
      <p:pic>
        <p:nvPicPr>
          <p:cNvPr id="19" name="Picture 18" descr="The image depicts a mathematical or chemical formula involving symbols like 'H', 'E', 'u', and 'w', with some numbers and operations, but it's unclear without further context.&#10;&#10;AI-generated content may be incorrect.">
            <a:extLst>
              <a:ext uri="{FF2B5EF4-FFF2-40B4-BE49-F238E27FC236}">
                <a16:creationId xmlns:a16="http://schemas.microsoft.com/office/drawing/2014/main" id="{371DE00D-2A18-7EAF-7FC6-EC59EE567899}"/>
              </a:ext>
            </a:extLst>
          </p:cNvPr>
          <p:cNvPicPr>
            <a:picLocks noChangeAspect="1"/>
          </p:cNvPicPr>
          <p:nvPr/>
        </p:nvPicPr>
        <p:blipFill>
          <a:blip r:embed="rId6"/>
          <a:stretch>
            <a:fillRect/>
          </a:stretch>
        </p:blipFill>
        <p:spPr>
          <a:xfrm>
            <a:off x="3853479" y="5053847"/>
            <a:ext cx="7695859" cy="1075157"/>
          </a:xfrm>
          <a:prstGeom prst="rect">
            <a:avLst/>
          </a:prstGeom>
          <a:ln>
            <a:solidFill>
              <a:schemeClr val="tx1"/>
            </a:solidFill>
          </a:ln>
        </p:spPr>
      </p:pic>
      <p:pic>
        <p:nvPicPr>
          <p:cNvPr id="22" name="Picture 21" descr="The image depicts a mathematical formula or equation with variables and symbols, likely related to thermodynamics or a physics concept.&#10;&#10;AI-generated content may be incorrect.">
            <a:extLst>
              <a:ext uri="{FF2B5EF4-FFF2-40B4-BE49-F238E27FC236}">
                <a16:creationId xmlns:a16="http://schemas.microsoft.com/office/drawing/2014/main" id="{411CFA87-18EF-F4C1-BA6A-4ABD7E25886B}"/>
              </a:ext>
            </a:extLst>
          </p:cNvPr>
          <p:cNvPicPr>
            <a:picLocks noChangeAspect="1"/>
          </p:cNvPicPr>
          <p:nvPr/>
        </p:nvPicPr>
        <p:blipFill>
          <a:blip r:embed="rId7"/>
          <a:stretch>
            <a:fillRect/>
          </a:stretch>
        </p:blipFill>
        <p:spPr>
          <a:xfrm>
            <a:off x="3889651" y="3835512"/>
            <a:ext cx="3027706" cy="1174541"/>
          </a:xfrm>
          <a:prstGeom prst="rect">
            <a:avLst/>
          </a:prstGeom>
        </p:spPr>
      </p:pic>
      <p:pic>
        <p:nvPicPr>
          <p:cNvPr id="24" name="Picture 23" descr="The image shows a mathematical expression where the square of the variable 'r' is set equal to 2 multiplied by the sine of QTZ, and then multiplied by the total (tot) and divided by Lz.&#10;&#10;AI-generated content may be incorrect.">
            <a:extLst>
              <a:ext uri="{FF2B5EF4-FFF2-40B4-BE49-F238E27FC236}">
                <a16:creationId xmlns:a16="http://schemas.microsoft.com/office/drawing/2014/main" id="{654E6909-12C2-614A-CDDB-A20242730FA6}"/>
              </a:ext>
            </a:extLst>
          </p:cNvPr>
          <p:cNvPicPr>
            <a:picLocks noChangeAspect="1"/>
          </p:cNvPicPr>
          <p:nvPr/>
        </p:nvPicPr>
        <p:blipFill>
          <a:blip r:embed="rId8"/>
          <a:stretch>
            <a:fillRect/>
          </a:stretch>
        </p:blipFill>
        <p:spPr>
          <a:xfrm>
            <a:off x="7878983" y="3942001"/>
            <a:ext cx="3161813" cy="1012235"/>
          </a:xfrm>
          <a:prstGeom prst="rect">
            <a:avLst/>
          </a:prstGeom>
        </p:spPr>
      </p:pic>
      <p:sp>
        <p:nvSpPr>
          <p:cNvPr id="26" name="Slide Number Placeholder 25">
            <a:extLst>
              <a:ext uri="{FF2B5EF4-FFF2-40B4-BE49-F238E27FC236}">
                <a16:creationId xmlns:a16="http://schemas.microsoft.com/office/drawing/2014/main" id="{7E24C07B-A846-DFB6-CAA9-283F46806A03}"/>
              </a:ext>
            </a:extLst>
          </p:cNvPr>
          <p:cNvSpPr>
            <a:spLocks noGrp="1"/>
          </p:cNvSpPr>
          <p:nvPr>
            <p:ph type="sldNum" sz="quarter" idx="12"/>
          </p:nvPr>
        </p:nvSpPr>
        <p:spPr/>
        <p:txBody>
          <a:bodyPr/>
          <a:lstStyle/>
          <a:p>
            <a:fld id="{915BFE24-F66A-465D-89F5-7F8A03242D8E}" type="slidenum">
              <a:rPr lang="en-US" smtClean="0"/>
              <a:t>4</a:t>
            </a:fld>
            <a:endParaRPr lang="en-US"/>
          </a:p>
        </p:txBody>
      </p:sp>
    </p:spTree>
    <p:extLst>
      <p:ext uri="{BB962C8B-B14F-4D97-AF65-F5344CB8AC3E}">
        <p14:creationId xmlns:p14="http://schemas.microsoft.com/office/powerpoint/2010/main" val="1188880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290D0-7577-42B3-B7E1-CCD2BBBA2C1D}"/>
              </a:ext>
            </a:extLst>
          </p:cNvPr>
          <p:cNvSpPr>
            <a:spLocks noGrp="1"/>
          </p:cNvSpPr>
          <p:nvPr>
            <p:ph type="title"/>
          </p:nvPr>
        </p:nvSpPr>
        <p:spPr/>
        <p:txBody>
          <a:bodyPr/>
          <a:lstStyle/>
          <a:p>
            <a:r>
              <a:rPr lang="en-US" dirty="0"/>
              <a:t>QED-TD-DFT as linear response with quantized photons</a:t>
            </a:r>
          </a:p>
        </p:txBody>
      </p:sp>
      <p:sp>
        <p:nvSpPr>
          <p:cNvPr id="7" name="Content Placeholder 6">
            <a:extLst>
              <a:ext uri="{FF2B5EF4-FFF2-40B4-BE49-F238E27FC236}">
                <a16:creationId xmlns:a16="http://schemas.microsoft.com/office/drawing/2014/main" id="{075B7655-A3B2-6CCD-A2D0-68DC531999B1}"/>
              </a:ext>
            </a:extLst>
          </p:cNvPr>
          <p:cNvSpPr>
            <a:spLocks noGrp="1"/>
          </p:cNvSpPr>
          <p:nvPr>
            <p:ph idx="1"/>
          </p:nvPr>
        </p:nvSpPr>
        <p:spPr/>
        <p:txBody>
          <a:bodyPr/>
          <a:lstStyle/>
          <a:p>
            <a:r>
              <a:rPr lang="en-US" sz="2000" dirty="0"/>
              <a:t>Polariton states now represented in the </a:t>
            </a:r>
            <a:r>
              <a:rPr lang="en-US" sz="2000" b="1" dirty="0"/>
              <a:t>joint </a:t>
            </a:r>
            <a:r>
              <a:rPr lang="en-US" sz="2000" dirty="0"/>
              <a:t>Hilbert (Fock) space of the electrons and the photons</a:t>
            </a:r>
          </a:p>
          <a:p>
            <a:endParaRPr lang="en-US" dirty="0"/>
          </a:p>
          <a:p>
            <a:endParaRPr lang="en-US" dirty="0"/>
          </a:p>
          <a:p>
            <a:r>
              <a:rPr lang="en-US" dirty="0"/>
              <a:t>1.</a:t>
            </a:r>
          </a:p>
          <a:p>
            <a:endParaRPr lang="en-US" dirty="0"/>
          </a:p>
          <a:p>
            <a:r>
              <a:rPr lang="en-US" dirty="0"/>
              <a:t>2.</a:t>
            </a:r>
          </a:p>
        </p:txBody>
      </p:sp>
      <p:pic>
        <p:nvPicPr>
          <p:cNvPr id="9" name="Picture 8" descr="The image shows a chemical formula with the elements H (hydrogen) and O (oxygen) arranged to represent water (H2O), with the subscript 'tot' likely being a typo for '2' and 'ph' being a typo for '2'.&#10;&#10;AI-generated content may be incorrect.">
            <a:extLst>
              <a:ext uri="{FF2B5EF4-FFF2-40B4-BE49-F238E27FC236}">
                <a16:creationId xmlns:a16="http://schemas.microsoft.com/office/drawing/2014/main" id="{95F128C1-DD1D-D3E2-FEE2-6732FC510A9F}"/>
              </a:ext>
            </a:extLst>
          </p:cNvPr>
          <p:cNvPicPr>
            <a:picLocks noChangeAspect="1"/>
          </p:cNvPicPr>
          <p:nvPr/>
        </p:nvPicPr>
        <p:blipFill>
          <a:blip r:embed="rId2"/>
          <a:stretch>
            <a:fillRect/>
          </a:stretch>
        </p:blipFill>
        <p:spPr>
          <a:xfrm>
            <a:off x="838200" y="2620854"/>
            <a:ext cx="2390363" cy="523915"/>
          </a:xfrm>
          <a:prstGeom prst="rect">
            <a:avLst/>
          </a:prstGeom>
        </p:spPr>
      </p:pic>
      <p:pic>
        <p:nvPicPr>
          <p:cNvPr id="15" name="Picture 14" descr="The image depicts a mathematical equation where DSE equals 1 followed by 2.&#10;&#10;AI-generated content may be incorrect.">
            <a:extLst>
              <a:ext uri="{FF2B5EF4-FFF2-40B4-BE49-F238E27FC236}">
                <a16:creationId xmlns:a16="http://schemas.microsoft.com/office/drawing/2014/main" id="{57CED361-33AC-585B-1AD7-580C83A799B7}"/>
              </a:ext>
            </a:extLst>
          </p:cNvPr>
          <p:cNvPicPr>
            <a:picLocks noChangeAspect="1"/>
          </p:cNvPicPr>
          <p:nvPr/>
        </p:nvPicPr>
        <p:blipFill>
          <a:blip r:embed="rId3"/>
          <a:stretch>
            <a:fillRect/>
          </a:stretch>
        </p:blipFill>
        <p:spPr>
          <a:xfrm>
            <a:off x="1585162" y="3388048"/>
            <a:ext cx="2453017" cy="813228"/>
          </a:xfrm>
          <a:prstGeom prst="rect">
            <a:avLst/>
          </a:prstGeom>
        </p:spPr>
      </p:pic>
      <p:pic>
        <p:nvPicPr>
          <p:cNvPr id="17" name="Picture 16" descr="Lai,bj =&#10;&#10;AI-generated content may be incorrect.">
            <a:extLst>
              <a:ext uri="{FF2B5EF4-FFF2-40B4-BE49-F238E27FC236}">
                <a16:creationId xmlns:a16="http://schemas.microsoft.com/office/drawing/2014/main" id="{FC6D973D-C127-D87B-EBEC-2DE3EF628F51}"/>
              </a:ext>
            </a:extLst>
          </p:cNvPr>
          <p:cNvPicPr>
            <a:picLocks noChangeAspect="1"/>
          </p:cNvPicPr>
          <p:nvPr/>
        </p:nvPicPr>
        <p:blipFill>
          <a:blip r:embed="rId4"/>
          <a:stretch>
            <a:fillRect/>
          </a:stretch>
        </p:blipFill>
        <p:spPr>
          <a:xfrm>
            <a:off x="9365354" y="3364675"/>
            <a:ext cx="2308987" cy="813228"/>
          </a:xfrm>
          <a:prstGeom prst="rect">
            <a:avLst/>
          </a:prstGeom>
        </p:spPr>
      </p:pic>
      <p:pic>
        <p:nvPicPr>
          <p:cNvPr id="19" name="Picture 18" descr="The image appears to contain mathematical equations or symbols, including a negative sign, square root, multiplication, and variables. However, without further context or clarification, it's difficult to provide a specific description.&#10;&#10;AI-generated content may be incorrect.">
            <a:extLst>
              <a:ext uri="{FF2B5EF4-FFF2-40B4-BE49-F238E27FC236}">
                <a16:creationId xmlns:a16="http://schemas.microsoft.com/office/drawing/2014/main" id="{844070EC-46EA-4865-796B-45324B766507}"/>
              </a:ext>
            </a:extLst>
          </p:cNvPr>
          <p:cNvPicPr>
            <a:picLocks noChangeAspect="1"/>
          </p:cNvPicPr>
          <p:nvPr/>
        </p:nvPicPr>
        <p:blipFill>
          <a:blip r:embed="rId5"/>
          <a:stretch>
            <a:fillRect/>
          </a:stretch>
        </p:blipFill>
        <p:spPr>
          <a:xfrm>
            <a:off x="1523254" y="4254783"/>
            <a:ext cx="3714720" cy="976223"/>
          </a:xfrm>
          <a:prstGeom prst="rect">
            <a:avLst/>
          </a:prstGeom>
        </p:spPr>
      </p:pic>
      <p:pic>
        <p:nvPicPr>
          <p:cNvPr id="21" name="Picture 20">
            <a:extLst>
              <a:ext uri="{FF2B5EF4-FFF2-40B4-BE49-F238E27FC236}">
                <a16:creationId xmlns:a16="http://schemas.microsoft.com/office/drawing/2014/main" id="{F18A89AA-BD80-5421-14A1-1B66E82E424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291674" y="4340202"/>
            <a:ext cx="1772135" cy="843874"/>
          </a:xfrm>
          <a:prstGeom prst="rect">
            <a:avLst/>
          </a:prstGeom>
        </p:spPr>
      </p:pic>
      <p:pic>
        <p:nvPicPr>
          <p:cNvPr id="23" name="Picture 22" descr="The text appears to be a mathematical or algebraic representation, showing equations or operations with variables and constants.&#10;&#10;AI-generated content may be incorrect.">
            <a:extLst>
              <a:ext uri="{FF2B5EF4-FFF2-40B4-BE49-F238E27FC236}">
                <a16:creationId xmlns:a16="http://schemas.microsoft.com/office/drawing/2014/main" id="{ACC3CBE1-0E6B-80C7-B38D-884C4F3FDB26}"/>
              </a:ext>
            </a:extLst>
          </p:cNvPr>
          <p:cNvPicPr>
            <a:picLocks noChangeAspect="1"/>
          </p:cNvPicPr>
          <p:nvPr/>
        </p:nvPicPr>
        <p:blipFill>
          <a:blip r:embed="rId7"/>
          <a:stretch>
            <a:fillRect/>
          </a:stretch>
        </p:blipFill>
        <p:spPr>
          <a:xfrm>
            <a:off x="933573" y="5316425"/>
            <a:ext cx="6344920" cy="1145781"/>
          </a:xfrm>
          <a:prstGeom prst="rect">
            <a:avLst/>
          </a:prstGeom>
          <a:ln>
            <a:solidFill>
              <a:schemeClr val="tx1"/>
            </a:solidFill>
          </a:ln>
        </p:spPr>
      </p:pic>
      <p:pic>
        <p:nvPicPr>
          <p:cNvPr id="29" name="Picture 28" descr="(Palp|ei)&#10;&#10;AI-generated content may be incorrect.">
            <a:extLst>
              <a:ext uri="{FF2B5EF4-FFF2-40B4-BE49-F238E27FC236}">
                <a16:creationId xmlns:a16="http://schemas.microsoft.com/office/drawing/2014/main" id="{8A2B5B54-2640-21DE-D364-9D0F6E4F89FB}"/>
              </a:ext>
            </a:extLst>
          </p:cNvPr>
          <p:cNvPicPr>
            <a:picLocks noChangeAspect="1"/>
          </p:cNvPicPr>
          <p:nvPr/>
        </p:nvPicPr>
        <p:blipFill>
          <a:blip r:embed="rId8"/>
          <a:stretch>
            <a:fillRect/>
          </a:stretch>
        </p:blipFill>
        <p:spPr>
          <a:xfrm>
            <a:off x="5095582" y="3485058"/>
            <a:ext cx="3974307" cy="1032471"/>
          </a:xfrm>
          <a:prstGeom prst="rect">
            <a:avLst/>
          </a:prstGeom>
        </p:spPr>
      </p:pic>
      <p:pic>
        <p:nvPicPr>
          <p:cNvPr id="31" name="Picture 30">
            <a:extLst>
              <a:ext uri="{FF2B5EF4-FFF2-40B4-BE49-F238E27FC236}">
                <a16:creationId xmlns:a16="http://schemas.microsoft.com/office/drawing/2014/main" id="{B7983543-3160-D9EB-F8C0-09FE0FBBFE1B}"/>
              </a:ext>
            </a:extLst>
          </p:cNvPr>
          <p:cNvPicPr>
            <a:picLocks noChangeAspect="1"/>
          </p:cNvPicPr>
          <p:nvPr/>
        </p:nvPicPr>
        <p:blipFill>
          <a:blip r:embed="rId9"/>
          <a:stretch>
            <a:fillRect/>
          </a:stretch>
        </p:blipFill>
        <p:spPr>
          <a:xfrm>
            <a:off x="3877107" y="2554083"/>
            <a:ext cx="5086332" cy="695254"/>
          </a:xfrm>
          <a:prstGeom prst="rect">
            <a:avLst/>
          </a:prstGeom>
        </p:spPr>
      </p:pic>
      <p:sp>
        <p:nvSpPr>
          <p:cNvPr id="34" name="Slide Number Placeholder 33">
            <a:extLst>
              <a:ext uri="{FF2B5EF4-FFF2-40B4-BE49-F238E27FC236}">
                <a16:creationId xmlns:a16="http://schemas.microsoft.com/office/drawing/2014/main" id="{C492A368-80EB-FA6A-0B43-A42CCEDD7764}"/>
              </a:ext>
            </a:extLst>
          </p:cNvPr>
          <p:cNvSpPr>
            <a:spLocks noGrp="1"/>
          </p:cNvSpPr>
          <p:nvPr>
            <p:ph type="sldNum" sz="quarter" idx="12"/>
          </p:nvPr>
        </p:nvSpPr>
        <p:spPr/>
        <p:txBody>
          <a:bodyPr/>
          <a:lstStyle/>
          <a:p>
            <a:fld id="{915BFE24-F66A-465D-89F5-7F8A03242D8E}" type="slidenum">
              <a:rPr lang="en-US" smtClean="0"/>
              <a:t>5</a:t>
            </a:fld>
            <a:endParaRPr lang="en-US"/>
          </a:p>
        </p:txBody>
      </p:sp>
    </p:spTree>
    <p:extLst>
      <p:ext uri="{BB962C8B-B14F-4D97-AF65-F5344CB8AC3E}">
        <p14:creationId xmlns:p14="http://schemas.microsoft.com/office/powerpoint/2010/main" val="1962260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E5EF0-6E8A-DA35-916F-90173536D6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E9FEA5-5A69-6EF4-40AA-D871FE8A4D20}"/>
              </a:ext>
            </a:extLst>
          </p:cNvPr>
          <p:cNvSpPr>
            <a:spLocks noGrp="1"/>
          </p:cNvSpPr>
          <p:nvPr>
            <p:ph type="title"/>
          </p:nvPr>
        </p:nvSpPr>
        <p:spPr/>
        <p:txBody>
          <a:bodyPr/>
          <a:lstStyle/>
          <a:p>
            <a:r>
              <a:rPr lang="en-US" dirty="0"/>
              <a:t>Approximations to QED-TD-DFT</a:t>
            </a:r>
          </a:p>
        </p:txBody>
      </p:sp>
      <p:sp>
        <p:nvSpPr>
          <p:cNvPr id="7" name="Content Placeholder 6">
            <a:extLst>
              <a:ext uri="{FF2B5EF4-FFF2-40B4-BE49-F238E27FC236}">
                <a16:creationId xmlns:a16="http://schemas.microsoft.com/office/drawing/2014/main" id="{A27E70A8-6C91-0164-2B58-86426567BE4A}"/>
              </a:ext>
            </a:extLst>
          </p:cNvPr>
          <p:cNvSpPr>
            <a:spLocks noGrp="1"/>
          </p:cNvSpPr>
          <p:nvPr>
            <p:ph idx="1"/>
          </p:nvPr>
        </p:nvSpPr>
        <p:spPr/>
        <p:txBody>
          <a:bodyPr/>
          <a:lstStyle/>
          <a:p>
            <a:r>
              <a:rPr lang="en-US" sz="2000" dirty="0"/>
              <a:t>Varied assortment of approximations exist for QED-TD-DFT</a:t>
            </a:r>
          </a:p>
          <a:p>
            <a:endParaRPr lang="en-US" dirty="0"/>
          </a:p>
          <a:p>
            <a:endParaRPr lang="en-US" dirty="0"/>
          </a:p>
          <a:p>
            <a:endParaRPr lang="en-US" dirty="0"/>
          </a:p>
          <a:p>
            <a:endParaRPr lang="en-US" dirty="0"/>
          </a:p>
          <a:p>
            <a:endParaRPr lang="en-US" dirty="0"/>
          </a:p>
        </p:txBody>
      </p:sp>
      <p:pic>
        <p:nvPicPr>
          <p:cNvPr id="3" name="Picture 2" descr="A prism of QED-TDDFT methods. Refer to the image caption for details.">
            <a:extLst>
              <a:ext uri="{FF2B5EF4-FFF2-40B4-BE49-F238E27FC236}">
                <a16:creationId xmlns:a16="http://schemas.microsoft.com/office/drawing/2014/main" id="{118323E5-4FD9-15A9-4C6E-105F73EFB197}"/>
              </a:ext>
            </a:extLst>
          </p:cNvPr>
          <p:cNvPicPr>
            <a:picLocks noChangeAspect="1"/>
          </p:cNvPicPr>
          <p:nvPr/>
        </p:nvPicPr>
        <p:blipFill>
          <a:blip r:embed="rId3"/>
          <a:stretch>
            <a:fillRect/>
          </a:stretch>
        </p:blipFill>
        <p:spPr>
          <a:xfrm>
            <a:off x="555171" y="2565701"/>
            <a:ext cx="5431971" cy="2871185"/>
          </a:xfrm>
          <a:prstGeom prst="rect">
            <a:avLst/>
          </a:prstGeom>
        </p:spPr>
      </p:pic>
      <p:sp>
        <p:nvSpPr>
          <p:cNvPr id="4" name="TextBox 3">
            <a:extLst>
              <a:ext uri="{FF2B5EF4-FFF2-40B4-BE49-F238E27FC236}">
                <a16:creationId xmlns:a16="http://schemas.microsoft.com/office/drawing/2014/main" id="{81F2F569-9B4D-0959-EAF7-D223E95A3C90}"/>
              </a:ext>
            </a:extLst>
          </p:cNvPr>
          <p:cNvSpPr txBox="1"/>
          <p:nvPr/>
        </p:nvSpPr>
        <p:spPr>
          <a:xfrm>
            <a:off x="6665686" y="2248683"/>
            <a:ext cx="4971143" cy="3416320"/>
          </a:xfrm>
          <a:prstGeom prst="rect">
            <a:avLst/>
          </a:prstGeom>
          <a:noFill/>
        </p:spPr>
        <p:txBody>
          <a:bodyPr wrap="square" rtlCol="0">
            <a:spAutoFit/>
          </a:bodyPr>
          <a:lstStyle/>
          <a:p>
            <a:r>
              <a:rPr lang="en-US" dirty="0"/>
              <a:t>For ease, I have used </a:t>
            </a:r>
            <a:r>
              <a:rPr lang="en-US" b="1" dirty="0"/>
              <a:t>TDA-JC:</a:t>
            </a:r>
          </a:p>
          <a:p>
            <a:pPr marL="285750" indent="-285750">
              <a:buFont typeface="Arial" panose="020B0604020202020204" pitchFamily="34" charset="0"/>
              <a:buChar char="•"/>
            </a:pPr>
            <a:r>
              <a:rPr lang="en-US" dirty="0"/>
              <a:t>B = 0: No electronic deexcitations, as in the case of standard TDA (i.e., stable, large-frequency excitations)</a:t>
            </a:r>
          </a:p>
          <a:p>
            <a:pPr marL="285750" indent="-285750">
              <a:buFont typeface="Arial" panose="020B0604020202020204" pitchFamily="34" charset="0"/>
              <a:buChar char="•"/>
            </a:pPr>
            <a:r>
              <a:rPr lang="en-US" dirty="0"/>
              <a:t>g̃ = 0: No ‘counterrotation’ coupling – Only well-defined, single-photon processes can be modelled (which is what we care about)</a:t>
            </a:r>
          </a:p>
          <a:p>
            <a:pPr marL="285750" indent="-285750">
              <a:buFont typeface="Arial" panose="020B0604020202020204" pitchFamily="34" charset="0"/>
              <a:buChar char="•"/>
            </a:pPr>
            <a:r>
              <a:rPr lang="en-US" dirty="0"/>
              <a:t>Δ = 0: DSE term is small when g/</a:t>
            </a:r>
            <a:r>
              <a:rPr lang="el-GR" dirty="0"/>
              <a:t>ω</a:t>
            </a:r>
            <a:r>
              <a:rPr lang="en-US" dirty="0"/>
              <a:t>&lt;&lt;1 (which it is in the calculations here)</a:t>
            </a:r>
          </a:p>
          <a:p>
            <a:pPr marL="285750" indent="-285750">
              <a:buFont typeface="Arial" panose="020B0604020202020204" pitchFamily="34" charset="0"/>
              <a:buChar char="•"/>
            </a:pPr>
            <a:r>
              <a:rPr lang="en-US" dirty="0"/>
              <a:t>Molecule only interacts with one major wavelength in the cavity</a:t>
            </a:r>
          </a:p>
          <a:p>
            <a:pPr marL="285750" indent="-285750">
              <a:buFont typeface="Arial" panose="020B0604020202020204" pitchFamily="34" charset="0"/>
              <a:buChar char="•"/>
            </a:pPr>
            <a:endParaRPr lang="en-US" dirty="0"/>
          </a:p>
        </p:txBody>
      </p:sp>
      <p:pic>
        <p:nvPicPr>
          <p:cNvPr id="6" name="Picture 5" descr="MI = 2I&#10;&#10;AI-generated content may be incorrect.">
            <a:extLst>
              <a:ext uri="{FF2B5EF4-FFF2-40B4-BE49-F238E27FC236}">
                <a16:creationId xmlns:a16="http://schemas.microsoft.com/office/drawing/2014/main" id="{C0985C77-EB91-F446-6B05-0411810335C5}"/>
              </a:ext>
            </a:extLst>
          </p:cNvPr>
          <p:cNvPicPr>
            <a:picLocks noChangeAspect="1"/>
          </p:cNvPicPr>
          <p:nvPr/>
        </p:nvPicPr>
        <p:blipFill>
          <a:blip r:embed="rId4"/>
          <a:stretch>
            <a:fillRect/>
          </a:stretch>
        </p:blipFill>
        <p:spPr>
          <a:xfrm>
            <a:off x="7313602" y="5412239"/>
            <a:ext cx="3348048" cy="917122"/>
          </a:xfrm>
          <a:prstGeom prst="rect">
            <a:avLst/>
          </a:prstGeom>
          <a:ln>
            <a:solidFill>
              <a:schemeClr val="tx1"/>
            </a:solidFill>
          </a:ln>
        </p:spPr>
      </p:pic>
      <p:sp>
        <p:nvSpPr>
          <p:cNvPr id="14" name="TextBox 13">
            <a:extLst>
              <a:ext uri="{FF2B5EF4-FFF2-40B4-BE49-F238E27FC236}">
                <a16:creationId xmlns:a16="http://schemas.microsoft.com/office/drawing/2014/main" id="{26FBDF73-D50C-0A8F-3BEF-60224B7DB8B5}"/>
              </a:ext>
            </a:extLst>
          </p:cNvPr>
          <p:cNvSpPr txBox="1"/>
          <p:nvPr/>
        </p:nvSpPr>
        <p:spPr>
          <a:xfrm>
            <a:off x="436585" y="6501455"/>
            <a:ext cx="5588758" cy="230832"/>
          </a:xfrm>
          <a:prstGeom prst="rect">
            <a:avLst/>
          </a:prstGeom>
          <a:noFill/>
        </p:spPr>
        <p:txBody>
          <a:bodyPr wrap="square" rtlCol="0">
            <a:spAutoFit/>
          </a:bodyPr>
          <a:lstStyle/>
          <a:p>
            <a:r>
              <a:rPr lang="en-US" sz="900" dirty="0"/>
              <a:t>Yang, J., et al. </a:t>
            </a:r>
            <a:r>
              <a:rPr lang="en-US" sz="900" i="1" dirty="0"/>
              <a:t>Chem. Phys.</a:t>
            </a:r>
            <a:r>
              <a:rPr lang="en-US" sz="900" dirty="0"/>
              <a:t> </a:t>
            </a:r>
            <a:r>
              <a:rPr lang="en-US" sz="900" b="1" dirty="0"/>
              <a:t>155 (6),</a:t>
            </a:r>
            <a:r>
              <a:rPr lang="en-US" sz="900" dirty="0"/>
              <a:t> 064107 (2021). </a:t>
            </a:r>
            <a:r>
              <a:rPr lang="en-US" sz="900" dirty="0">
                <a:hlinkClick r:id="rId5"/>
              </a:rPr>
              <a:t>https://doi.org/10.1063/5.0057542</a:t>
            </a:r>
            <a:endParaRPr lang="en-US" sz="900" dirty="0"/>
          </a:p>
        </p:txBody>
      </p:sp>
      <p:sp>
        <p:nvSpPr>
          <p:cNvPr id="18" name="Slide Number Placeholder 17">
            <a:extLst>
              <a:ext uri="{FF2B5EF4-FFF2-40B4-BE49-F238E27FC236}">
                <a16:creationId xmlns:a16="http://schemas.microsoft.com/office/drawing/2014/main" id="{1233F12B-4835-3D0F-A7C7-74D796228864}"/>
              </a:ext>
            </a:extLst>
          </p:cNvPr>
          <p:cNvSpPr>
            <a:spLocks noGrp="1"/>
          </p:cNvSpPr>
          <p:nvPr>
            <p:ph type="sldNum" sz="quarter" idx="12"/>
          </p:nvPr>
        </p:nvSpPr>
        <p:spPr/>
        <p:txBody>
          <a:bodyPr/>
          <a:lstStyle/>
          <a:p>
            <a:fld id="{915BFE24-F66A-465D-89F5-7F8A03242D8E}" type="slidenum">
              <a:rPr lang="en-US" smtClean="0"/>
              <a:t>6</a:t>
            </a:fld>
            <a:endParaRPr lang="en-US"/>
          </a:p>
        </p:txBody>
      </p:sp>
    </p:spTree>
    <p:extLst>
      <p:ext uri="{BB962C8B-B14F-4D97-AF65-F5344CB8AC3E}">
        <p14:creationId xmlns:p14="http://schemas.microsoft.com/office/powerpoint/2010/main" val="743481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8D979E-990A-5F99-4A49-4260AEE29E08}"/>
            </a:ext>
          </a:extLst>
        </p:cNvPr>
        <p:cNvGrpSpPr/>
        <p:nvPr/>
      </p:nvGrpSpPr>
      <p:grpSpPr>
        <a:xfrm>
          <a:off x="0" y="0"/>
          <a:ext cx="0" cy="0"/>
          <a:chOff x="0" y="0"/>
          <a:chExt cx="0" cy="0"/>
        </a:xfrm>
      </p:grpSpPr>
      <p:sp>
        <p:nvSpPr>
          <p:cNvPr id="18" name="tint">
            <a:extLst>
              <a:ext uri="{FF2B5EF4-FFF2-40B4-BE49-F238E27FC236}">
                <a16:creationId xmlns:a16="http://schemas.microsoft.com/office/drawing/2014/main" id="{BC84AE2F-44F4-4DB9-AA52-F1DF1D8350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9D38F80-A0D0-4062-8B61-16440AC9D8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5999" cy="6858000"/>
          </a:xfrm>
          <a:prstGeom prst="rect">
            <a:avLst/>
          </a:prstGeom>
          <a:solidFill>
            <a:srgbClr val="FFFFFF"/>
          </a:solidFill>
          <a:ln>
            <a:noFill/>
          </a:ln>
          <a:effectLst>
            <a:outerShdw blurRad="635000" dist="254000" dir="5460000" sx="90000" sy="9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90B6B893-A22E-3404-0752-819EE7049D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27FB6F-15B8-D92F-B91B-7A5E82F56708}"/>
              </a:ext>
            </a:extLst>
          </p:cNvPr>
          <p:cNvSpPr>
            <a:spLocks noGrp="1"/>
          </p:cNvSpPr>
          <p:nvPr>
            <p:ph type="title"/>
          </p:nvPr>
        </p:nvSpPr>
        <p:spPr>
          <a:xfrm>
            <a:off x="758952" y="312347"/>
            <a:ext cx="10591989" cy="1089805"/>
          </a:xfrm>
        </p:spPr>
        <p:txBody>
          <a:bodyPr vert="horz" lIns="91440" tIns="45720" rIns="91440" bIns="45720" rtlCol="0" anchor="ctr">
            <a:normAutofit/>
          </a:bodyPr>
          <a:lstStyle/>
          <a:p>
            <a:r>
              <a:rPr lang="en-US" sz="4000"/>
              <a:t>Application of QED-TD-DFT to polaritonic systems</a:t>
            </a:r>
          </a:p>
        </p:txBody>
      </p:sp>
      <p:pic>
        <p:nvPicPr>
          <p:cNvPr id="8" name="Picture 7" descr="The image appears to be a plot showing the oscillation strength of some quantity, P1+, as a function of energy (E) in electron volts (eV), with energy levels ranging from 4.6 to 5.0 eV. The plot seems to have peaks and troughs, indicating a periodic or oscillatory behavior of P1+ as the energy changes.&#10;&#10;AI-generated content may be incorrect.">
            <a:extLst>
              <a:ext uri="{FF2B5EF4-FFF2-40B4-BE49-F238E27FC236}">
                <a16:creationId xmlns:a16="http://schemas.microsoft.com/office/drawing/2014/main" id="{B6C25F63-B587-CCD9-7D24-412FE8B24A20}"/>
              </a:ext>
            </a:extLst>
          </p:cNvPr>
          <p:cNvPicPr>
            <a:picLocks noChangeAspect="1"/>
          </p:cNvPicPr>
          <p:nvPr/>
        </p:nvPicPr>
        <p:blipFill>
          <a:blip r:embed="rId2"/>
          <a:stretch>
            <a:fillRect/>
          </a:stretch>
        </p:blipFill>
        <p:spPr>
          <a:xfrm>
            <a:off x="247643" y="1890215"/>
            <a:ext cx="5801005" cy="2044853"/>
          </a:xfrm>
          <a:prstGeom prst="rect">
            <a:avLst/>
          </a:prstGeom>
        </p:spPr>
      </p:pic>
      <p:pic>
        <p:nvPicPr>
          <p:cNvPr id="13" name="Picture 12">
            <a:extLst>
              <a:ext uri="{FF2B5EF4-FFF2-40B4-BE49-F238E27FC236}">
                <a16:creationId xmlns:a16="http://schemas.microsoft.com/office/drawing/2014/main" id="{42C50F47-C0B1-63E1-22E5-786655F93A49}"/>
              </a:ext>
            </a:extLst>
          </p:cNvPr>
          <p:cNvPicPr>
            <a:picLocks noChangeAspect="1"/>
          </p:cNvPicPr>
          <p:nvPr/>
        </p:nvPicPr>
        <p:blipFill>
          <a:blip r:embed="rId3">
            <a:extLst>
              <a:ext uri="{28A0092B-C50C-407E-A947-70E740481C1C}">
                <a14:useLocalDpi xmlns:a14="http://schemas.microsoft.com/office/drawing/2010/main" val="0"/>
              </a:ext>
            </a:extLst>
          </a:blip>
          <a:stretch/>
        </p:blipFill>
        <p:spPr>
          <a:xfrm>
            <a:off x="367816" y="4059578"/>
            <a:ext cx="2505262" cy="2317367"/>
          </a:xfrm>
          <a:prstGeom prst="rect">
            <a:avLst/>
          </a:prstGeom>
        </p:spPr>
      </p:pic>
      <p:pic>
        <p:nvPicPr>
          <p:cNvPr id="5" name="Picture 4" descr="The diagram depicts two energy level diagrams for a 2-state and a 3-state model, including transition probabilities (P1+ and P1-&gt;), photon contributions, and energy (E) in electron volts (eV) and Angstroms (A).&#10;&#10;AI-generated content may be incorrect.">
            <a:extLst>
              <a:ext uri="{FF2B5EF4-FFF2-40B4-BE49-F238E27FC236}">
                <a16:creationId xmlns:a16="http://schemas.microsoft.com/office/drawing/2014/main" id="{5D4CAFB9-336F-8421-6445-A23B6254DAF9}"/>
              </a:ext>
            </a:extLst>
          </p:cNvPr>
          <p:cNvPicPr>
            <a:picLocks noChangeAspect="1"/>
          </p:cNvPicPr>
          <p:nvPr/>
        </p:nvPicPr>
        <p:blipFill>
          <a:blip r:embed="rId4"/>
          <a:stretch>
            <a:fillRect/>
          </a:stretch>
        </p:blipFill>
        <p:spPr>
          <a:xfrm>
            <a:off x="3240893" y="3990227"/>
            <a:ext cx="2770110" cy="2555426"/>
          </a:xfrm>
          <a:prstGeom prst="rect">
            <a:avLst/>
          </a:prstGeom>
        </p:spPr>
      </p:pic>
      <p:sp>
        <p:nvSpPr>
          <p:cNvPr id="3" name="TextBox 2">
            <a:extLst>
              <a:ext uri="{FF2B5EF4-FFF2-40B4-BE49-F238E27FC236}">
                <a16:creationId xmlns:a16="http://schemas.microsoft.com/office/drawing/2014/main" id="{973935E0-5101-A789-BB6C-CBAE6CB9A520}"/>
              </a:ext>
            </a:extLst>
          </p:cNvPr>
          <p:cNvSpPr txBox="1"/>
          <p:nvPr/>
        </p:nvSpPr>
        <p:spPr>
          <a:xfrm>
            <a:off x="6772061" y="2646184"/>
            <a:ext cx="4673222" cy="3991460"/>
          </a:xfrm>
          <a:prstGeom prst="rect">
            <a:avLst/>
          </a:prstGeom>
        </p:spPr>
        <p:txBody>
          <a:bodyPr vert="horz" lIns="91440" tIns="45720" rIns="91440" bIns="45720" rtlCol="0" anchor="ctr">
            <a:normAutofit/>
          </a:bodyPr>
          <a:lstStyle/>
          <a:p>
            <a:pPr marL="285750" indent="-228600">
              <a:lnSpc>
                <a:spcPct val="90000"/>
              </a:lnSpc>
              <a:spcAft>
                <a:spcPts val="600"/>
              </a:spcAft>
              <a:buFont typeface="Arial" panose="020B0604020202020204" pitchFamily="34" charset="0"/>
              <a:buChar char="•"/>
            </a:pPr>
            <a:r>
              <a:rPr lang="en-US" sz="2000" dirty="0"/>
              <a:t>Computationally similar timescales as TD-DFT – Very feasible to do</a:t>
            </a:r>
          </a:p>
          <a:p>
            <a:pPr marL="285750" indent="-228600">
              <a:lnSpc>
                <a:spcPct val="90000"/>
              </a:lnSpc>
              <a:spcAft>
                <a:spcPts val="600"/>
              </a:spcAft>
              <a:buFont typeface="Arial" panose="020B0604020202020204" pitchFamily="34" charset="0"/>
              <a:buChar char="•"/>
            </a:pPr>
            <a:r>
              <a:rPr lang="en-US" sz="2000" dirty="0"/>
              <a:t>Can be used to simulate the polaritonic properties of small molecules very well, both qualitatively and quantitatively</a:t>
            </a:r>
          </a:p>
          <a:p>
            <a:pPr marL="57150">
              <a:lnSpc>
                <a:spcPct val="90000"/>
              </a:lnSpc>
              <a:spcAft>
                <a:spcPts val="600"/>
              </a:spcAft>
            </a:pPr>
            <a:endParaRPr lang="en-US" sz="2000" dirty="0"/>
          </a:p>
          <a:p>
            <a:pPr marL="57150">
              <a:lnSpc>
                <a:spcPct val="90000"/>
              </a:lnSpc>
              <a:spcAft>
                <a:spcPts val="600"/>
              </a:spcAft>
            </a:pPr>
            <a:endParaRPr lang="en-US" sz="2000" dirty="0"/>
          </a:p>
          <a:p>
            <a:pPr marL="57150" algn="ctr">
              <a:lnSpc>
                <a:spcPct val="90000"/>
              </a:lnSpc>
              <a:spcAft>
                <a:spcPts val="600"/>
              </a:spcAft>
            </a:pPr>
            <a:r>
              <a:rPr lang="en-US" sz="2000" b="1" dirty="0"/>
              <a:t>Challenge: How well does QED-TD-DFT model larger, more relevant fluorophores used in standard polaritonic experiments?</a:t>
            </a:r>
          </a:p>
          <a:p>
            <a:pPr marL="285750" indent="-228600">
              <a:lnSpc>
                <a:spcPct val="90000"/>
              </a:lnSpc>
              <a:spcAft>
                <a:spcPts val="600"/>
              </a:spcAft>
              <a:buFont typeface="Arial" panose="020B0604020202020204" pitchFamily="34" charset="0"/>
              <a:buChar char="•"/>
            </a:pPr>
            <a:endParaRPr lang="en-US" sz="2000" b="1" dirty="0"/>
          </a:p>
          <a:p>
            <a:pPr marL="285750" indent="-228600">
              <a:lnSpc>
                <a:spcPct val="90000"/>
              </a:lnSpc>
              <a:spcAft>
                <a:spcPts val="600"/>
              </a:spcAft>
              <a:buFont typeface="Arial" panose="020B0604020202020204" pitchFamily="34" charset="0"/>
              <a:buChar char="•"/>
            </a:pPr>
            <a:endParaRPr lang="en-US" sz="2000" b="1" dirty="0"/>
          </a:p>
          <a:p>
            <a:pPr indent="-228600">
              <a:lnSpc>
                <a:spcPct val="90000"/>
              </a:lnSpc>
              <a:spcAft>
                <a:spcPts val="600"/>
              </a:spcAft>
              <a:buFont typeface="Arial" panose="020B0604020202020204" pitchFamily="34" charset="0"/>
              <a:buChar char="•"/>
            </a:pPr>
            <a:endParaRPr lang="en-US" sz="2000" b="1" dirty="0"/>
          </a:p>
        </p:txBody>
      </p:sp>
      <p:sp>
        <p:nvSpPr>
          <p:cNvPr id="14" name="TextBox 13">
            <a:extLst>
              <a:ext uri="{FF2B5EF4-FFF2-40B4-BE49-F238E27FC236}">
                <a16:creationId xmlns:a16="http://schemas.microsoft.com/office/drawing/2014/main" id="{B5340391-3EBA-52B3-BD7D-7F5C2ACEBE81}"/>
              </a:ext>
            </a:extLst>
          </p:cNvPr>
          <p:cNvSpPr txBox="1"/>
          <p:nvPr/>
        </p:nvSpPr>
        <p:spPr>
          <a:xfrm>
            <a:off x="436585" y="6501455"/>
            <a:ext cx="5588758" cy="230832"/>
          </a:xfrm>
          <a:prstGeom prst="rect">
            <a:avLst/>
          </a:prstGeom>
          <a:noFill/>
        </p:spPr>
        <p:txBody>
          <a:bodyPr wrap="square" rtlCol="0">
            <a:spAutoFit/>
          </a:bodyPr>
          <a:lstStyle/>
          <a:p>
            <a:r>
              <a:rPr lang="en-US" sz="900" dirty="0"/>
              <a:t>Yang, J., et al. </a:t>
            </a:r>
            <a:r>
              <a:rPr lang="en-US" sz="900" i="1" dirty="0"/>
              <a:t>Chem. Phys.</a:t>
            </a:r>
            <a:r>
              <a:rPr lang="en-US" sz="900" dirty="0"/>
              <a:t> </a:t>
            </a:r>
            <a:r>
              <a:rPr lang="en-US" sz="900" b="1" dirty="0"/>
              <a:t>155 (6),</a:t>
            </a:r>
            <a:r>
              <a:rPr lang="en-US" sz="900" dirty="0"/>
              <a:t> 064107 (2021). </a:t>
            </a:r>
            <a:r>
              <a:rPr lang="en-US" sz="900" dirty="0">
                <a:hlinkClick r:id="rId5"/>
              </a:rPr>
              <a:t>https://doi.org/10.1063/5.0057542</a:t>
            </a:r>
            <a:endParaRPr lang="en-US" sz="900" dirty="0"/>
          </a:p>
        </p:txBody>
      </p:sp>
      <p:sp>
        <p:nvSpPr>
          <p:cNvPr id="16" name="Slide Number Placeholder 15">
            <a:extLst>
              <a:ext uri="{FF2B5EF4-FFF2-40B4-BE49-F238E27FC236}">
                <a16:creationId xmlns:a16="http://schemas.microsoft.com/office/drawing/2014/main" id="{3ECF80CB-F049-2136-F226-24237FB59F14}"/>
              </a:ext>
            </a:extLst>
          </p:cNvPr>
          <p:cNvSpPr>
            <a:spLocks noGrp="1"/>
          </p:cNvSpPr>
          <p:nvPr>
            <p:ph type="sldNum" sz="quarter" idx="12"/>
          </p:nvPr>
        </p:nvSpPr>
        <p:spPr/>
        <p:txBody>
          <a:bodyPr/>
          <a:lstStyle/>
          <a:p>
            <a:fld id="{915BFE24-F66A-465D-89F5-7F8A03242D8E}" type="slidenum">
              <a:rPr lang="en-US" smtClean="0"/>
              <a:t>7</a:t>
            </a:fld>
            <a:endParaRPr lang="en-US"/>
          </a:p>
        </p:txBody>
      </p:sp>
    </p:spTree>
    <p:extLst>
      <p:ext uri="{BB962C8B-B14F-4D97-AF65-F5344CB8AC3E}">
        <p14:creationId xmlns:p14="http://schemas.microsoft.com/office/powerpoint/2010/main" val="33001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AD7AD-F2D9-0353-4142-86EA7B91D620}"/>
              </a:ext>
            </a:extLst>
          </p:cNvPr>
          <p:cNvSpPr>
            <a:spLocks noGrp="1"/>
          </p:cNvSpPr>
          <p:nvPr>
            <p:ph type="title"/>
          </p:nvPr>
        </p:nvSpPr>
        <p:spPr>
          <a:xfrm>
            <a:off x="1188058" y="-55659"/>
            <a:ext cx="10515600" cy="1325563"/>
          </a:xfrm>
        </p:spPr>
        <p:txBody>
          <a:bodyPr/>
          <a:lstStyle/>
          <a:p>
            <a:r>
              <a:rPr lang="en-US" dirty="0"/>
              <a:t>Polaritonic splitting vs. coupling strength </a:t>
            </a:r>
            <a:r>
              <a:rPr lang="el-GR" dirty="0"/>
              <a:t>λ</a:t>
            </a:r>
            <a:endParaRPr lang="en-US" dirty="0"/>
          </a:p>
        </p:txBody>
      </p:sp>
      <p:pic>
        <p:nvPicPr>
          <p:cNvPr id="8196" name="Picture 4">
            <a:extLst>
              <a:ext uri="{FF2B5EF4-FFF2-40B4-BE49-F238E27FC236}">
                <a16:creationId xmlns:a16="http://schemas.microsoft.com/office/drawing/2014/main" id="{E6E26DCE-97F4-294E-0DFF-C6FD32C197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7315" y="1161527"/>
            <a:ext cx="6180195" cy="2623364"/>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57A29C07-C950-6D08-1DE2-524A454BBC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7315" y="3864968"/>
            <a:ext cx="6180195" cy="2623364"/>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Coumarin 343 Dye content 97 55804-65-4">
            <a:extLst>
              <a:ext uri="{FF2B5EF4-FFF2-40B4-BE49-F238E27FC236}">
                <a16:creationId xmlns:a16="http://schemas.microsoft.com/office/drawing/2014/main" id="{D168F840-4257-A0DC-558A-FE4C9DEC7B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3251" y="1566407"/>
            <a:ext cx="1363223" cy="84349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8421CBA-45CC-A850-2A37-98C5CADEE145}"/>
              </a:ext>
            </a:extLst>
          </p:cNvPr>
          <p:cNvSpPr txBox="1"/>
          <p:nvPr/>
        </p:nvSpPr>
        <p:spPr>
          <a:xfrm>
            <a:off x="944174" y="2409901"/>
            <a:ext cx="1773141" cy="369332"/>
          </a:xfrm>
          <a:prstGeom prst="rect">
            <a:avLst/>
          </a:prstGeom>
          <a:noFill/>
        </p:spPr>
        <p:txBody>
          <a:bodyPr wrap="square" rtlCol="0">
            <a:spAutoFit/>
          </a:bodyPr>
          <a:lstStyle/>
          <a:p>
            <a:r>
              <a:rPr lang="en-US" dirty="0"/>
              <a:t>Coumarin 343</a:t>
            </a:r>
          </a:p>
        </p:txBody>
      </p:sp>
      <p:pic>
        <p:nvPicPr>
          <p:cNvPr id="8" name="Picture 8">
            <a:extLst>
              <a:ext uri="{FF2B5EF4-FFF2-40B4-BE49-F238E27FC236}">
                <a16:creationId xmlns:a16="http://schemas.microsoft.com/office/drawing/2014/main" id="{0F729DF9-FE66-8C58-7360-13D3F20F77D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p:blipFill>
        <p:spPr bwMode="auto">
          <a:xfrm>
            <a:off x="1373115" y="4580330"/>
            <a:ext cx="843494" cy="84349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40C67B4-5355-C14A-A377-5885ED4D0CE2}"/>
              </a:ext>
            </a:extLst>
          </p:cNvPr>
          <p:cNvSpPr txBox="1"/>
          <p:nvPr/>
        </p:nvSpPr>
        <p:spPr>
          <a:xfrm>
            <a:off x="1113251" y="5468751"/>
            <a:ext cx="1773141" cy="369332"/>
          </a:xfrm>
          <a:prstGeom prst="rect">
            <a:avLst/>
          </a:prstGeom>
          <a:noFill/>
        </p:spPr>
        <p:txBody>
          <a:bodyPr wrap="square" rtlCol="0">
            <a:spAutoFit/>
          </a:bodyPr>
          <a:lstStyle/>
          <a:p>
            <a:r>
              <a:rPr lang="en-US" dirty="0"/>
              <a:t>NBD-Amine</a:t>
            </a:r>
          </a:p>
        </p:txBody>
      </p:sp>
      <p:sp>
        <p:nvSpPr>
          <p:cNvPr id="14" name="TextBox 13">
            <a:extLst>
              <a:ext uri="{FF2B5EF4-FFF2-40B4-BE49-F238E27FC236}">
                <a16:creationId xmlns:a16="http://schemas.microsoft.com/office/drawing/2014/main" id="{A0E5570E-82A7-EC93-A13F-9670859362FC}"/>
              </a:ext>
            </a:extLst>
          </p:cNvPr>
          <p:cNvSpPr txBox="1"/>
          <p:nvPr/>
        </p:nvSpPr>
        <p:spPr>
          <a:xfrm>
            <a:off x="9138351" y="1513331"/>
            <a:ext cx="2825113" cy="3970318"/>
          </a:xfrm>
          <a:prstGeom prst="rect">
            <a:avLst/>
          </a:prstGeom>
          <a:noFill/>
        </p:spPr>
        <p:txBody>
          <a:bodyPr wrap="square" rtlCol="0">
            <a:spAutoFit/>
          </a:bodyPr>
          <a:lstStyle/>
          <a:p>
            <a:r>
              <a:rPr lang="en-US" dirty="0"/>
              <a:t>Workflow:</a:t>
            </a:r>
          </a:p>
          <a:p>
            <a:pPr marL="342900" indent="-342900">
              <a:buAutoNum type="arabicPeriod"/>
            </a:pPr>
            <a:r>
              <a:rPr lang="en-US" dirty="0"/>
              <a:t>Ground state geometry optimization (B3LYP/cc-</a:t>
            </a:r>
            <a:r>
              <a:rPr lang="en-US" dirty="0" err="1"/>
              <a:t>pVDZ</a:t>
            </a:r>
            <a:r>
              <a:rPr lang="en-US" dirty="0"/>
              <a:t>)</a:t>
            </a:r>
          </a:p>
          <a:p>
            <a:pPr marL="342900" indent="-342900">
              <a:buAutoNum type="arabicPeriod"/>
            </a:pPr>
            <a:r>
              <a:rPr lang="en-US" dirty="0"/>
              <a:t>Single-point DFT calculation (B3LYP/6-31+G**) with </a:t>
            </a:r>
            <a:r>
              <a:rPr lang="en-US" dirty="0" err="1"/>
              <a:t>ddCOSMO</a:t>
            </a:r>
            <a:r>
              <a:rPr lang="en-US" dirty="0"/>
              <a:t> PMMA simulation</a:t>
            </a:r>
          </a:p>
          <a:p>
            <a:pPr marL="342900" indent="-342900">
              <a:buAutoNum type="arabicPeriod"/>
            </a:pPr>
            <a:r>
              <a:rPr lang="en-US" dirty="0"/>
              <a:t>Standard TDA calculation to find first transition frequency, with </a:t>
            </a:r>
            <a:r>
              <a:rPr lang="en-US" dirty="0" err="1"/>
              <a:t>ddCOSMO</a:t>
            </a:r>
            <a:endParaRPr lang="en-US" dirty="0"/>
          </a:p>
          <a:p>
            <a:pPr marL="342900" indent="-342900">
              <a:buAutoNum type="arabicPeriod"/>
            </a:pPr>
            <a:r>
              <a:rPr lang="en-US" dirty="0"/>
              <a:t>TDA-JC with </a:t>
            </a:r>
            <a:r>
              <a:rPr lang="en-US" dirty="0" err="1"/>
              <a:t>ddCOSMO</a:t>
            </a:r>
            <a:endParaRPr lang="en-US" dirty="0"/>
          </a:p>
        </p:txBody>
      </p:sp>
      <p:sp>
        <p:nvSpPr>
          <p:cNvPr id="17" name="Slide Number Placeholder 16">
            <a:extLst>
              <a:ext uri="{FF2B5EF4-FFF2-40B4-BE49-F238E27FC236}">
                <a16:creationId xmlns:a16="http://schemas.microsoft.com/office/drawing/2014/main" id="{0008ACB6-9A9D-FDE1-9795-A7933E2584D3}"/>
              </a:ext>
            </a:extLst>
          </p:cNvPr>
          <p:cNvSpPr>
            <a:spLocks noGrp="1"/>
          </p:cNvSpPr>
          <p:nvPr>
            <p:ph type="sldNum" sz="quarter" idx="12"/>
          </p:nvPr>
        </p:nvSpPr>
        <p:spPr/>
        <p:txBody>
          <a:bodyPr/>
          <a:lstStyle/>
          <a:p>
            <a:fld id="{915BFE24-F66A-465D-89F5-7F8A03242D8E}" type="slidenum">
              <a:rPr lang="en-US" smtClean="0"/>
              <a:t>8</a:t>
            </a:fld>
            <a:endParaRPr lang="en-US"/>
          </a:p>
        </p:txBody>
      </p:sp>
    </p:spTree>
    <p:extLst>
      <p:ext uri="{BB962C8B-B14F-4D97-AF65-F5344CB8AC3E}">
        <p14:creationId xmlns:p14="http://schemas.microsoft.com/office/powerpoint/2010/main" val="4264104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46BB1-2ECE-C8FF-1887-9756F46EEA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D5154-D449-BFDD-D447-1E71F2D67039}"/>
              </a:ext>
            </a:extLst>
          </p:cNvPr>
          <p:cNvSpPr>
            <a:spLocks noGrp="1"/>
          </p:cNvSpPr>
          <p:nvPr>
            <p:ph type="title"/>
          </p:nvPr>
        </p:nvSpPr>
        <p:spPr>
          <a:xfrm>
            <a:off x="145143" y="-55659"/>
            <a:ext cx="12264571" cy="1325563"/>
          </a:xfrm>
        </p:spPr>
        <p:txBody>
          <a:bodyPr/>
          <a:lstStyle/>
          <a:p>
            <a:r>
              <a:rPr lang="en-US" dirty="0"/>
              <a:t>Polaritonic splitting vs. polarization vector alignment</a:t>
            </a:r>
          </a:p>
        </p:txBody>
      </p:sp>
      <p:pic>
        <p:nvPicPr>
          <p:cNvPr id="8196" name="Picture 4">
            <a:extLst>
              <a:ext uri="{FF2B5EF4-FFF2-40B4-BE49-F238E27FC236}">
                <a16:creationId xmlns:a16="http://schemas.microsoft.com/office/drawing/2014/main" id="{6FF6BCE3-5FD4-FE12-C5EC-15B1FC756A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2719402" y="1161527"/>
            <a:ext cx="6176021" cy="2623364"/>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2E4FBCA3-B9B9-A8F8-78FB-E76CF55AF5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2719402" y="3864968"/>
            <a:ext cx="6176021" cy="2623364"/>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Coumarin 343 Dye content 97 55804-65-4">
            <a:extLst>
              <a:ext uri="{FF2B5EF4-FFF2-40B4-BE49-F238E27FC236}">
                <a16:creationId xmlns:a16="http://schemas.microsoft.com/office/drawing/2014/main" id="{57BD76A0-0634-57B5-5317-769CF9102F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3251" y="1566407"/>
            <a:ext cx="1363223" cy="84349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2FDF185-5335-7F29-71ED-DD8CD1D635AB}"/>
              </a:ext>
            </a:extLst>
          </p:cNvPr>
          <p:cNvSpPr txBox="1"/>
          <p:nvPr/>
        </p:nvSpPr>
        <p:spPr>
          <a:xfrm>
            <a:off x="944174" y="2409901"/>
            <a:ext cx="1773141" cy="369332"/>
          </a:xfrm>
          <a:prstGeom prst="rect">
            <a:avLst/>
          </a:prstGeom>
          <a:noFill/>
        </p:spPr>
        <p:txBody>
          <a:bodyPr wrap="square" rtlCol="0">
            <a:spAutoFit/>
          </a:bodyPr>
          <a:lstStyle/>
          <a:p>
            <a:r>
              <a:rPr lang="en-US" dirty="0"/>
              <a:t>Coumarin 343</a:t>
            </a:r>
          </a:p>
        </p:txBody>
      </p:sp>
      <p:pic>
        <p:nvPicPr>
          <p:cNvPr id="8" name="Picture 8">
            <a:extLst>
              <a:ext uri="{FF2B5EF4-FFF2-40B4-BE49-F238E27FC236}">
                <a16:creationId xmlns:a16="http://schemas.microsoft.com/office/drawing/2014/main" id="{9790E3F3-2CF2-636A-5C46-D61B05CD23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p:blipFill>
        <p:spPr bwMode="auto">
          <a:xfrm>
            <a:off x="1373115" y="4580330"/>
            <a:ext cx="843494" cy="84349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0AF7D92-27F1-84A3-4FF4-18DFFA940E7F}"/>
              </a:ext>
            </a:extLst>
          </p:cNvPr>
          <p:cNvSpPr txBox="1"/>
          <p:nvPr/>
        </p:nvSpPr>
        <p:spPr>
          <a:xfrm>
            <a:off x="1113251" y="5468751"/>
            <a:ext cx="1773141" cy="369332"/>
          </a:xfrm>
          <a:prstGeom prst="rect">
            <a:avLst/>
          </a:prstGeom>
          <a:noFill/>
        </p:spPr>
        <p:txBody>
          <a:bodyPr wrap="square" rtlCol="0">
            <a:spAutoFit/>
          </a:bodyPr>
          <a:lstStyle/>
          <a:p>
            <a:r>
              <a:rPr lang="en-US" dirty="0"/>
              <a:t>NBD-Amine</a:t>
            </a:r>
          </a:p>
        </p:txBody>
      </p:sp>
      <p:sp>
        <p:nvSpPr>
          <p:cNvPr id="4" name="Slide Number Placeholder 3">
            <a:extLst>
              <a:ext uri="{FF2B5EF4-FFF2-40B4-BE49-F238E27FC236}">
                <a16:creationId xmlns:a16="http://schemas.microsoft.com/office/drawing/2014/main" id="{ACFAC800-C3BE-12A0-7AFC-68609EA02A15}"/>
              </a:ext>
            </a:extLst>
          </p:cNvPr>
          <p:cNvSpPr>
            <a:spLocks noGrp="1"/>
          </p:cNvSpPr>
          <p:nvPr>
            <p:ph type="sldNum" sz="quarter" idx="12"/>
          </p:nvPr>
        </p:nvSpPr>
        <p:spPr/>
        <p:txBody>
          <a:bodyPr/>
          <a:lstStyle/>
          <a:p>
            <a:fld id="{915BFE24-F66A-465D-89F5-7F8A03242D8E}" type="slidenum">
              <a:rPr lang="en-US" smtClean="0"/>
              <a:t>9</a:t>
            </a:fld>
            <a:endParaRPr lang="en-US"/>
          </a:p>
        </p:txBody>
      </p:sp>
    </p:spTree>
    <p:extLst>
      <p:ext uri="{BB962C8B-B14F-4D97-AF65-F5344CB8AC3E}">
        <p14:creationId xmlns:p14="http://schemas.microsoft.com/office/powerpoint/2010/main" val="81200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7A52E-997E-93FA-5770-96094BF1BD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D065EF-D833-7ECD-9893-54F245B8DBB6}"/>
              </a:ext>
            </a:extLst>
          </p:cNvPr>
          <p:cNvSpPr>
            <a:spLocks noGrp="1"/>
          </p:cNvSpPr>
          <p:nvPr>
            <p:ph type="title"/>
          </p:nvPr>
        </p:nvSpPr>
        <p:spPr>
          <a:xfrm>
            <a:off x="-324874" y="0"/>
            <a:ext cx="12264571" cy="1325563"/>
          </a:xfrm>
        </p:spPr>
        <p:txBody>
          <a:bodyPr/>
          <a:lstStyle/>
          <a:p>
            <a:pPr algn="ctr"/>
            <a:r>
              <a:rPr lang="en-US" dirty="0"/>
              <a:t>Polaritonic splitting vs. cavity frequency</a:t>
            </a:r>
          </a:p>
        </p:txBody>
      </p:sp>
      <p:pic>
        <p:nvPicPr>
          <p:cNvPr id="8196" name="Picture 4">
            <a:extLst>
              <a:ext uri="{FF2B5EF4-FFF2-40B4-BE49-F238E27FC236}">
                <a16:creationId xmlns:a16="http://schemas.microsoft.com/office/drawing/2014/main" id="{8C527230-FF2D-497C-5AE6-E06A83C2CA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2719402" y="1162471"/>
            <a:ext cx="6176021" cy="2621476"/>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4FF0C78C-B49B-B603-D71C-E13BFC0CD0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2719402" y="3864968"/>
            <a:ext cx="6176021" cy="2623363"/>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Coumarin 343 Dye content 97 55804-65-4">
            <a:extLst>
              <a:ext uri="{FF2B5EF4-FFF2-40B4-BE49-F238E27FC236}">
                <a16:creationId xmlns:a16="http://schemas.microsoft.com/office/drawing/2014/main" id="{B74E54C3-A0A6-F76F-361D-E31249B9FD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3251" y="1566407"/>
            <a:ext cx="1363223" cy="84349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C51D524-FE59-949A-131D-FF3F53007DB2}"/>
              </a:ext>
            </a:extLst>
          </p:cNvPr>
          <p:cNvSpPr txBox="1"/>
          <p:nvPr/>
        </p:nvSpPr>
        <p:spPr>
          <a:xfrm>
            <a:off x="944174" y="2409901"/>
            <a:ext cx="1773141" cy="369332"/>
          </a:xfrm>
          <a:prstGeom prst="rect">
            <a:avLst/>
          </a:prstGeom>
          <a:noFill/>
        </p:spPr>
        <p:txBody>
          <a:bodyPr wrap="square" rtlCol="0">
            <a:spAutoFit/>
          </a:bodyPr>
          <a:lstStyle/>
          <a:p>
            <a:r>
              <a:rPr lang="en-US" dirty="0"/>
              <a:t>Coumarin 343</a:t>
            </a:r>
          </a:p>
        </p:txBody>
      </p:sp>
      <p:pic>
        <p:nvPicPr>
          <p:cNvPr id="8" name="Picture 8">
            <a:extLst>
              <a:ext uri="{FF2B5EF4-FFF2-40B4-BE49-F238E27FC236}">
                <a16:creationId xmlns:a16="http://schemas.microsoft.com/office/drawing/2014/main" id="{A20F64B7-A6E0-903D-A1FA-A3B67CDC07A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p:blipFill>
        <p:spPr bwMode="auto">
          <a:xfrm>
            <a:off x="1373115" y="4580330"/>
            <a:ext cx="843494" cy="84349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F3E352A-5082-6135-C7E9-38348940CC78}"/>
              </a:ext>
            </a:extLst>
          </p:cNvPr>
          <p:cNvSpPr txBox="1"/>
          <p:nvPr/>
        </p:nvSpPr>
        <p:spPr>
          <a:xfrm>
            <a:off x="1113251" y="5468751"/>
            <a:ext cx="1773141" cy="369332"/>
          </a:xfrm>
          <a:prstGeom prst="rect">
            <a:avLst/>
          </a:prstGeom>
          <a:noFill/>
        </p:spPr>
        <p:txBody>
          <a:bodyPr wrap="square" rtlCol="0">
            <a:spAutoFit/>
          </a:bodyPr>
          <a:lstStyle/>
          <a:p>
            <a:r>
              <a:rPr lang="en-US" dirty="0"/>
              <a:t>NBD-Amine</a:t>
            </a:r>
          </a:p>
        </p:txBody>
      </p:sp>
      <p:sp>
        <p:nvSpPr>
          <p:cNvPr id="3" name="TextBox 2">
            <a:extLst>
              <a:ext uri="{FF2B5EF4-FFF2-40B4-BE49-F238E27FC236}">
                <a16:creationId xmlns:a16="http://schemas.microsoft.com/office/drawing/2014/main" id="{86F82076-D0C3-CCA9-C5EB-897D857C6688}"/>
              </a:ext>
            </a:extLst>
          </p:cNvPr>
          <p:cNvSpPr txBox="1"/>
          <p:nvPr/>
        </p:nvSpPr>
        <p:spPr>
          <a:xfrm>
            <a:off x="9071429" y="2136338"/>
            <a:ext cx="2868268" cy="2585323"/>
          </a:xfrm>
          <a:prstGeom prst="rect">
            <a:avLst/>
          </a:prstGeom>
          <a:noFill/>
        </p:spPr>
        <p:txBody>
          <a:bodyPr wrap="square" rtlCol="0">
            <a:spAutoFit/>
          </a:bodyPr>
          <a:lstStyle/>
          <a:p>
            <a:r>
              <a:rPr lang="en-US" dirty="0"/>
              <a:t>Avoided crossing diagrams!</a:t>
            </a:r>
          </a:p>
          <a:p>
            <a:endParaRPr lang="en-US" dirty="0"/>
          </a:p>
          <a:p>
            <a:r>
              <a:rPr lang="en-US" dirty="0"/>
              <a:t>Coumarin-343 shows interactions of the next polariton too – basic two-state splitting model can’t qualitatively show this at all</a:t>
            </a:r>
          </a:p>
        </p:txBody>
      </p:sp>
      <p:sp>
        <p:nvSpPr>
          <p:cNvPr id="5" name="Slide Number Placeholder 4">
            <a:extLst>
              <a:ext uri="{FF2B5EF4-FFF2-40B4-BE49-F238E27FC236}">
                <a16:creationId xmlns:a16="http://schemas.microsoft.com/office/drawing/2014/main" id="{C4B67967-45BD-DD8A-F553-6EC3F10B8A77}"/>
              </a:ext>
            </a:extLst>
          </p:cNvPr>
          <p:cNvSpPr>
            <a:spLocks noGrp="1"/>
          </p:cNvSpPr>
          <p:nvPr>
            <p:ph type="sldNum" sz="quarter" idx="12"/>
          </p:nvPr>
        </p:nvSpPr>
        <p:spPr/>
        <p:txBody>
          <a:bodyPr/>
          <a:lstStyle/>
          <a:p>
            <a:fld id="{915BFE24-F66A-465D-89F5-7F8A03242D8E}" type="slidenum">
              <a:rPr lang="en-US" smtClean="0"/>
              <a:t>10</a:t>
            </a:fld>
            <a:endParaRPr lang="en-US"/>
          </a:p>
        </p:txBody>
      </p:sp>
    </p:spTree>
    <p:extLst>
      <p:ext uri="{BB962C8B-B14F-4D97-AF65-F5344CB8AC3E}">
        <p14:creationId xmlns:p14="http://schemas.microsoft.com/office/powerpoint/2010/main" val="616666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BB068-7EF2-2D40-816A-1E719C86F3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8CBDE-5C4D-F410-6697-CAE04EA9D974}"/>
              </a:ext>
            </a:extLst>
          </p:cNvPr>
          <p:cNvSpPr>
            <a:spLocks noGrp="1"/>
          </p:cNvSpPr>
          <p:nvPr>
            <p:ph type="title"/>
          </p:nvPr>
        </p:nvSpPr>
        <p:spPr/>
        <p:txBody>
          <a:bodyPr/>
          <a:lstStyle/>
          <a:p>
            <a:r>
              <a:rPr lang="en-US" dirty="0"/>
              <a:t>Issues with quantitative conclusions from TDA-JC on Coumarin 343 and NBD</a:t>
            </a:r>
          </a:p>
        </p:txBody>
      </p:sp>
      <p:pic>
        <p:nvPicPr>
          <p:cNvPr id="10242" name="Picture 2" descr="Jacob's ladder of density functional approximations. | Download ...">
            <a:extLst>
              <a:ext uri="{FF2B5EF4-FFF2-40B4-BE49-F238E27FC236}">
                <a16:creationId xmlns:a16="http://schemas.microsoft.com/office/drawing/2014/main" id="{A8B0EEEA-593A-C0BC-00C5-FFC256DFD8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840" y="1968345"/>
            <a:ext cx="4535715" cy="328102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8C17F16-C15E-6213-CD31-2F99E2979BC5}"/>
              </a:ext>
            </a:extLst>
          </p:cNvPr>
          <p:cNvSpPr txBox="1"/>
          <p:nvPr/>
        </p:nvSpPr>
        <p:spPr>
          <a:xfrm>
            <a:off x="442685" y="5377543"/>
            <a:ext cx="4498869" cy="1200329"/>
          </a:xfrm>
          <a:prstGeom prst="rect">
            <a:avLst/>
          </a:prstGeom>
          <a:noFill/>
        </p:spPr>
        <p:txBody>
          <a:bodyPr wrap="square" rtlCol="0">
            <a:spAutoFit/>
          </a:bodyPr>
          <a:lstStyle/>
          <a:p>
            <a:pPr algn="ctr"/>
            <a:r>
              <a:rPr lang="en-US" dirty="0"/>
              <a:t>“For wide is the conjugated molecule and long-range is the correlation that leads to destruction, and many continue to calculate it.” – Matthew 7:13</a:t>
            </a:r>
          </a:p>
        </p:txBody>
      </p:sp>
      <p:pic>
        <p:nvPicPr>
          <p:cNvPr id="6" name="Picture 5">
            <a:extLst>
              <a:ext uri="{FF2B5EF4-FFF2-40B4-BE49-F238E27FC236}">
                <a16:creationId xmlns:a16="http://schemas.microsoft.com/office/drawing/2014/main" id="{C5357C26-E9D0-DF82-7C51-46ED1A6CF688}"/>
              </a:ext>
            </a:extLst>
          </p:cNvPr>
          <p:cNvPicPr>
            <a:picLocks noChangeAspect="1"/>
          </p:cNvPicPr>
          <p:nvPr/>
        </p:nvPicPr>
        <p:blipFill>
          <a:blip r:embed="rId3"/>
          <a:stretch>
            <a:fillRect/>
          </a:stretch>
        </p:blipFill>
        <p:spPr>
          <a:xfrm>
            <a:off x="5315465" y="1881860"/>
            <a:ext cx="6522735" cy="185042"/>
          </a:xfrm>
          <a:prstGeom prst="rect">
            <a:avLst/>
          </a:prstGeom>
        </p:spPr>
      </p:pic>
      <p:sp>
        <p:nvSpPr>
          <p:cNvPr id="7" name="TextBox 6">
            <a:extLst>
              <a:ext uri="{FF2B5EF4-FFF2-40B4-BE49-F238E27FC236}">
                <a16:creationId xmlns:a16="http://schemas.microsoft.com/office/drawing/2014/main" id="{10F33246-5F9A-BA17-8410-6B754FB0C855}"/>
              </a:ext>
            </a:extLst>
          </p:cNvPr>
          <p:cNvSpPr txBox="1"/>
          <p:nvPr/>
        </p:nvSpPr>
        <p:spPr>
          <a:xfrm>
            <a:off x="6504807" y="1820790"/>
            <a:ext cx="4884421" cy="101667"/>
          </a:xfrm>
          <a:prstGeom prst="rect">
            <a:avLst/>
          </a:prstGeom>
          <a:solidFill>
            <a:schemeClr val="bg1"/>
          </a:solidFill>
        </p:spPr>
        <p:txBody>
          <a:bodyPr wrap="square" rtlCol="0">
            <a:spAutoFit/>
          </a:bodyPr>
          <a:lstStyle/>
          <a:p>
            <a:endParaRPr lang="en-US" dirty="0"/>
          </a:p>
        </p:txBody>
      </p:sp>
      <p:pic>
        <p:nvPicPr>
          <p:cNvPr id="9" name="Picture 8">
            <a:extLst>
              <a:ext uri="{FF2B5EF4-FFF2-40B4-BE49-F238E27FC236}">
                <a16:creationId xmlns:a16="http://schemas.microsoft.com/office/drawing/2014/main" id="{2E414804-F208-507D-ACAA-9F4B5082BFC9}"/>
              </a:ext>
            </a:extLst>
          </p:cNvPr>
          <p:cNvPicPr>
            <a:picLocks noChangeAspect="1"/>
          </p:cNvPicPr>
          <p:nvPr/>
        </p:nvPicPr>
        <p:blipFill>
          <a:blip r:embed="rId4"/>
          <a:stretch>
            <a:fillRect/>
          </a:stretch>
        </p:blipFill>
        <p:spPr>
          <a:xfrm>
            <a:off x="5315465" y="2365993"/>
            <a:ext cx="5867443" cy="890594"/>
          </a:xfrm>
          <a:prstGeom prst="rect">
            <a:avLst/>
          </a:prstGeom>
        </p:spPr>
      </p:pic>
      <p:pic>
        <p:nvPicPr>
          <p:cNvPr id="11" name="Picture 10">
            <a:extLst>
              <a:ext uri="{FF2B5EF4-FFF2-40B4-BE49-F238E27FC236}">
                <a16:creationId xmlns:a16="http://schemas.microsoft.com/office/drawing/2014/main" id="{CB78E0E4-4B86-B5ED-9532-770CE16924ED}"/>
              </a:ext>
            </a:extLst>
          </p:cNvPr>
          <p:cNvPicPr>
            <a:picLocks noChangeAspect="1"/>
          </p:cNvPicPr>
          <p:nvPr/>
        </p:nvPicPr>
        <p:blipFill>
          <a:blip r:embed="rId5"/>
          <a:stretch>
            <a:fillRect/>
          </a:stretch>
        </p:blipFill>
        <p:spPr>
          <a:xfrm>
            <a:off x="5243870" y="3471582"/>
            <a:ext cx="6145358" cy="717230"/>
          </a:xfrm>
          <a:prstGeom prst="rect">
            <a:avLst/>
          </a:prstGeom>
        </p:spPr>
      </p:pic>
      <p:sp>
        <p:nvSpPr>
          <p:cNvPr id="12" name="TextBox 11">
            <a:extLst>
              <a:ext uri="{FF2B5EF4-FFF2-40B4-BE49-F238E27FC236}">
                <a16:creationId xmlns:a16="http://schemas.microsoft.com/office/drawing/2014/main" id="{CC672634-B020-80B4-2218-6B50522BB8F7}"/>
              </a:ext>
            </a:extLst>
          </p:cNvPr>
          <p:cNvSpPr txBox="1"/>
          <p:nvPr/>
        </p:nvSpPr>
        <p:spPr>
          <a:xfrm>
            <a:off x="5345698" y="2054731"/>
            <a:ext cx="5704764" cy="253916"/>
          </a:xfrm>
          <a:prstGeom prst="rect">
            <a:avLst/>
          </a:prstGeom>
          <a:noFill/>
        </p:spPr>
        <p:txBody>
          <a:bodyPr wrap="square" rtlCol="0">
            <a:spAutoFit/>
          </a:bodyPr>
          <a:lstStyle/>
          <a:p>
            <a:r>
              <a:rPr lang="en-US" sz="1050" dirty="0"/>
              <a:t>- Lee et al. (K. Birgitta Whaley Group), on Coumarin (2013)</a:t>
            </a:r>
          </a:p>
        </p:txBody>
      </p:sp>
      <p:sp>
        <p:nvSpPr>
          <p:cNvPr id="15" name="TextBox 14">
            <a:extLst>
              <a:ext uri="{FF2B5EF4-FFF2-40B4-BE49-F238E27FC236}">
                <a16:creationId xmlns:a16="http://schemas.microsoft.com/office/drawing/2014/main" id="{8B175416-FBA2-D2AF-37DB-0F137534143A}"/>
              </a:ext>
            </a:extLst>
          </p:cNvPr>
          <p:cNvSpPr txBox="1"/>
          <p:nvPr/>
        </p:nvSpPr>
        <p:spPr>
          <a:xfrm>
            <a:off x="5353431" y="3117073"/>
            <a:ext cx="5704764" cy="253916"/>
          </a:xfrm>
          <a:prstGeom prst="rect">
            <a:avLst/>
          </a:prstGeom>
          <a:noFill/>
        </p:spPr>
        <p:txBody>
          <a:bodyPr wrap="square" rtlCol="0">
            <a:spAutoFit/>
          </a:bodyPr>
          <a:lstStyle/>
          <a:p>
            <a:r>
              <a:rPr lang="en-US" sz="1050" dirty="0"/>
              <a:t>- Alkhatib et al., on other dye BODIPY (2022), advocating DSD functionals</a:t>
            </a:r>
          </a:p>
        </p:txBody>
      </p:sp>
      <p:sp>
        <p:nvSpPr>
          <p:cNvPr id="16" name="TextBox 15">
            <a:extLst>
              <a:ext uri="{FF2B5EF4-FFF2-40B4-BE49-F238E27FC236}">
                <a16:creationId xmlns:a16="http://schemas.microsoft.com/office/drawing/2014/main" id="{52286164-B204-C406-DF7B-4DF0F2306059}"/>
              </a:ext>
            </a:extLst>
          </p:cNvPr>
          <p:cNvSpPr txBox="1"/>
          <p:nvPr/>
        </p:nvSpPr>
        <p:spPr>
          <a:xfrm>
            <a:off x="5315465" y="4188812"/>
            <a:ext cx="5704764" cy="253916"/>
          </a:xfrm>
          <a:prstGeom prst="rect">
            <a:avLst/>
          </a:prstGeom>
          <a:noFill/>
        </p:spPr>
        <p:txBody>
          <a:bodyPr wrap="square" rtlCol="0">
            <a:spAutoFit/>
          </a:bodyPr>
          <a:lstStyle/>
          <a:p>
            <a:r>
              <a:rPr lang="en-US" sz="1050" dirty="0"/>
              <a:t>- Sebastian et al., also on BODIPY (2025), denouncing DSD functionals</a:t>
            </a:r>
          </a:p>
        </p:txBody>
      </p:sp>
      <p:pic>
        <p:nvPicPr>
          <p:cNvPr id="18" name="Picture 17">
            <a:extLst>
              <a:ext uri="{FF2B5EF4-FFF2-40B4-BE49-F238E27FC236}">
                <a16:creationId xmlns:a16="http://schemas.microsoft.com/office/drawing/2014/main" id="{C46016C8-C073-D23A-B10B-AE0373E5C860}"/>
              </a:ext>
            </a:extLst>
          </p:cNvPr>
          <p:cNvPicPr>
            <a:picLocks noChangeAspect="1"/>
          </p:cNvPicPr>
          <p:nvPr/>
        </p:nvPicPr>
        <p:blipFill>
          <a:blip r:embed="rId6"/>
          <a:stretch>
            <a:fillRect/>
          </a:stretch>
        </p:blipFill>
        <p:spPr>
          <a:xfrm>
            <a:off x="5315465" y="4688117"/>
            <a:ext cx="6605879" cy="905375"/>
          </a:xfrm>
          <a:prstGeom prst="rect">
            <a:avLst/>
          </a:prstGeom>
        </p:spPr>
      </p:pic>
      <p:sp>
        <p:nvSpPr>
          <p:cNvPr id="19" name="TextBox 18">
            <a:extLst>
              <a:ext uri="{FF2B5EF4-FFF2-40B4-BE49-F238E27FC236}">
                <a16:creationId xmlns:a16="http://schemas.microsoft.com/office/drawing/2014/main" id="{0085D2DC-2B4B-0C8F-C13B-8A55B30DBE33}"/>
              </a:ext>
            </a:extLst>
          </p:cNvPr>
          <p:cNvSpPr txBox="1"/>
          <p:nvPr/>
        </p:nvSpPr>
        <p:spPr>
          <a:xfrm>
            <a:off x="5277499" y="4645147"/>
            <a:ext cx="6145358" cy="85940"/>
          </a:xfrm>
          <a:prstGeom prst="rect">
            <a:avLst/>
          </a:prstGeom>
          <a:solidFill>
            <a:schemeClr val="bg1"/>
          </a:solidFill>
        </p:spPr>
        <p:txBody>
          <a:bodyPr wrap="square" rtlCol="0">
            <a:spAutoFit/>
          </a:bodyPr>
          <a:lstStyle/>
          <a:p>
            <a:endParaRPr lang="en-US" dirty="0"/>
          </a:p>
        </p:txBody>
      </p:sp>
      <p:sp>
        <p:nvSpPr>
          <p:cNvPr id="20" name="TextBox 19">
            <a:extLst>
              <a:ext uri="{FF2B5EF4-FFF2-40B4-BE49-F238E27FC236}">
                <a16:creationId xmlns:a16="http://schemas.microsoft.com/office/drawing/2014/main" id="{6C989A82-433E-E9FD-85E9-9C0EFAAFBD58}"/>
              </a:ext>
            </a:extLst>
          </p:cNvPr>
          <p:cNvSpPr txBox="1"/>
          <p:nvPr/>
        </p:nvSpPr>
        <p:spPr>
          <a:xfrm>
            <a:off x="5448965" y="5759447"/>
            <a:ext cx="6107392" cy="923330"/>
          </a:xfrm>
          <a:prstGeom prst="rect">
            <a:avLst/>
          </a:prstGeom>
          <a:noFill/>
        </p:spPr>
        <p:txBody>
          <a:bodyPr wrap="square" rtlCol="0">
            <a:spAutoFit/>
          </a:bodyPr>
          <a:lstStyle/>
          <a:p>
            <a:pPr algn="ctr"/>
            <a:r>
              <a:rPr lang="en-US" b="1" dirty="0"/>
              <a:t>Choice of basis, functional, QED-TD-DFT approximation, density fitting (and basis), and solvent effect modelling matter!</a:t>
            </a:r>
          </a:p>
        </p:txBody>
      </p:sp>
      <p:sp>
        <p:nvSpPr>
          <p:cNvPr id="24" name="Slide Number Placeholder 23">
            <a:extLst>
              <a:ext uri="{FF2B5EF4-FFF2-40B4-BE49-F238E27FC236}">
                <a16:creationId xmlns:a16="http://schemas.microsoft.com/office/drawing/2014/main" id="{40E406C9-A886-6FE7-8D9E-7FE5A8CA991F}"/>
              </a:ext>
            </a:extLst>
          </p:cNvPr>
          <p:cNvSpPr>
            <a:spLocks noGrp="1"/>
          </p:cNvSpPr>
          <p:nvPr>
            <p:ph type="sldNum" sz="quarter" idx="12"/>
          </p:nvPr>
        </p:nvSpPr>
        <p:spPr/>
        <p:txBody>
          <a:bodyPr/>
          <a:lstStyle/>
          <a:p>
            <a:fld id="{915BFE24-F66A-465D-89F5-7F8A03242D8E}" type="slidenum">
              <a:rPr lang="en-US" smtClean="0"/>
              <a:t>11</a:t>
            </a:fld>
            <a:endParaRPr lang="en-US"/>
          </a:p>
        </p:txBody>
      </p:sp>
    </p:spTree>
    <p:extLst>
      <p:ext uri="{BB962C8B-B14F-4D97-AF65-F5344CB8AC3E}">
        <p14:creationId xmlns:p14="http://schemas.microsoft.com/office/powerpoint/2010/main" val="3715288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E85A7-2213-498C-6540-A26297352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8177D7-55DC-00A0-113D-C13B8523F427}"/>
              </a:ext>
            </a:extLst>
          </p:cNvPr>
          <p:cNvSpPr>
            <a:spLocks noGrp="1"/>
          </p:cNvSpPr>
          <p:nvPr>
            <p:ph type="title"/>
          </p:nvPr>
        </p:nvSpPr>
        <p:spPr>
          <a:xfrm>
            <a:off x="639417" y="-56294"/>
            <a:ext cx="10515600" cy="1325563"/>
          </a:xfrm>
        </p:spPr>
        <p:txBody>
          <a:bodyPr/>
          <a:lstStyle/>
          <a:p>
            <a:r>
              <a:rPr lang="en-US" dirty="0"/>
              <a:t>Extended applications of QED-TD-DFT</a:t>
            </a:r>
          </a:p>
        </p:txBody>
      </p:sp>
      <p:pic>
        <p:nvPicPr>
          <p:cNvPr id="13316" name="Picture 4">
            <a:extLst>
              <a:ext uri="{FF2B5EF4-FFF2-40B4-BE49-F238E27FC236}">
                <a16:creationId xmlns:a16="http://schemas.microsoft.com/office/drawing/2014/main" id="{653477E4-AA01-67D1-1684-6061AC4973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365" y="1269268"/>
            <a:ext cx="5992084" cy="401241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171AA7F-7477-5094-4E3C-A40EBFAC29F3}"/>
              </a:ext>
            </a:extLst>
          </p:cNvPr>
          <p:cNvSpPr txBox="1"/>
          <p:nvPr/>
        </p:nvSpPr>
        <p:spPr>
          <a:xfrm>
            <a:off x="6520070" y="1423283"/>
            <a:ext cx="4905954" cy="4524315"/>
          </a:xfrm>
          <a:prstGeom prst="rect">
            <a:avLst/>
          </a:prstGeom>
          <a:noFill/>
        </p:spPr>
        <p:txBody>
          <a:bodyPr wrap="square" rtlCol="0">
            <a:spAutoFit/>
          </a:bodyPr>
          <a:lstStyle/>
          <a:p>
            <a:pPr marL="285750" indent="-285750">
              <a:buFont typeface="Arial" panose="020B0604020202020204" pitchFamily="34" charset="0"/>
              <a:buChar char="•"/>
            </a:pPr>
            <a:r>
              <a:rPr lang="en-US" dirty="0"/>
              <a:t>Polaritonic coupling of FRET pairs in a cavity (hybridization of donor, acceptor, and photon energy levels) </a:t>
            </a:r>
            <a:r>
              <a:rPr lang="en-US" b="1" dirty="0"/>
              <a:t>(WIP)</a:t>
            </a:r>
            <a:endParaRPr lang="en-US" dirty="0"/>
          </a:p>
          <a:p>
            <a:pPr marL="285750" indent="-285750">
              <a:buFont typeface="Arial" panose="020B0604020202020204" pitchFamily="34" charset="0"/>
              <a:buChar char="•"/>
            </a:pPr>
            <a:r>
              <a:rPr lang="en-US" dirty="0"/>
              <a:t>Spectroscopic predictions on polaritonic systems, modelling dark states </a:t>
            </a:r>
            <a:r>
              <a:rPr lang="en-US" b="1" dirty="0"/>
              <a:t>(see left)</a:t>
            </a:r>
          </a:p>
          <a:p>
            <a:pPr marL="285750" indent="-285750">
              <a:buFont typeface="Arial" panose="020B0604020202020204" pitchFamily="34" charset="0"/>
              <a:buChar char="•"/>
            </a:pPr>
            <a:r>
              <a:rPr lang="en-US" dirty="0"/>
              <a:t>Looking at vibrational strong coupling instead of electronic strong coupling with photons (cavity tuned to frequency of a molecular vibration)</a:t>
            </a:r>
          </a:p>
          <a:p>
            <a:pPr marL="285750" indent="-285750">
              <a:buFont typeface="Arial" panose="020B0604020202020204" pitchFamily="34" charset="0"/>
              <a:buChar char="•"/>
            </a:pPr>
            <a:r>
              <a:rPr lang="en-US" dirty="0"/>
              <a:t>Polaritonic chemistry and transition state calculations</a:t>
            </a:r>
          </a:p>
          <a:p>
            <a:pPr marL="285750" indent="-285750">
              <a:buFont typeface="Arial" panose="020B0604020202020204" pitchFamily="34" charset="0"/>
              <a:buChar char="•"/>
            </a:pPr>
            <a:r>
              <a:rPr lang="en-US" dirty="0"/>
              <a:t>QED-TD-DHDFT for double-hybrid functionals</a:t>
            </a:r>
          </a:p>
          <a:p>
            <a:pPr marL="285750" indent="-285750">
              <a:buFont typeface="Arial" panose="020B0604020202020204" pitchFamily="34" charset="0"/>
              <a:buChar char="•"/>
            </a:pPr>
            <a:r>
              <a:rPr lang="en-US" dirty="0"/>
              <a:t>Extension of theory to similar coupled systems, e.g. exciton-optical phonon coupling</a:t>
            </a:r>
          </a:p>
        </p:txBody>
      </p:sp>
      <p:sp>
        <p:nvSpPr>
          <p:cNvPr id="5" name="Slide Number Placeholder 4">
            <a:extLst>
              <a:ext uri="{FF2B5EF4-FFF2-40B4-BE49-F238E27FC236}">
                <a16:creationId xmlns:a16="http://schemas.microsoft.com/office/drawing/2014/main" id="{617DE275-05A0-4BAF-CF4B-EF9A5DBFFCB2}"/>
              </a:ext>
            </a:extLst>
          </p:cNvPr>
          <p:cNvSpPr>
            <a:spLocks noGrp="1"/>
          </p:cNvSpPr>
          <p:nvPr>
            <p:ph type="sldNum" sz="quarter" idx="12"/>
          </p:nvPr>
        </p:nvSpPr>
        <p:spPr/>
        <p:txBody>
          <a:bodyPr/>
          <a:lstStyle/>
          <a:p>
            <a:fld id="{915BFE24-F66A-465D-89F5-7F8A03242D8E}" type="slidenum">
              <a:rPr lang="en-US" smtClean="0"/>
              <a:t>12</a:t>
            </a:fld>
            <a:endParaRPr lang="en-US"/>
          </a:p>
        </p:txBody>
      </p:sp>
    </p:spTree>
    <p:extLst>
      <p:ext uri="{BB962C8B-B14F-4D97-AF65-F5344CB8AC3E}">
        <p14:creationId xmlns:p14="http://schemas.microsoft.com/office/powerpoint/2010/main" val="1750468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2267531-4DD4-4259-8C05-59F8B8D37D14}"/>
              </a:ext>
            </a:extLst>
          </p:cNvPr>
          <p:cNvSpPr>
            <a:spLocks noGrp="1"/>
          </p:cNvSpPr>
          <p:nvPr>
            <p:ph type="sldNum" sz="quarter" idx="12"/>
          </p:nvPr>
        </p:nvSpPr>
        <p:spPr/>
        <p:txBody>
          <a:bodyPr/>
          <a:lstStyle/>
          <a:p>
            <a:fld id="{915BFE24-F66A-465D-89F5-7F8A03242D8E}" type="slidenum">
              <a:rPr lang="en-US" smtClean="0"/>
              <a:t>13</a:t>
            </a:fld>
            <a:endParaRPr lang="en-US"/>
          </a:p>
        </p:txBody>
      </p:sp>
      <p:grpSp>
        <p:nvGrpSpPr>
          <p:cNvPr id="15" name="Group 14">
            <a:extLst>
              <a:ext uri="{FF2B5EF4-FFF2-40B4-BE49-F238E27FC236}">
                <a16:creationId xmlns:a16="http://schemas.microsoft.com/office/drawing/2014/main" id="{4A09B9F6-92C5-875B-A214-FF4501778CE7}"/>
              </a:ext>
            </a:extLst>
          </p:cNvPr>
          <p:cNvGrpSpPr/>
          <p:nvPr/>
        </p:nvGrpSpPr>
        <p:grpSpPr>
          <a:xfrm>
            <a:off x="6906677" y="1540012"/>
            <a:ext cx="4447123" cy="3777974"/>
            <a:chOff x="6906677" y="1540012"/>
            <a:chExt cx="4447123" cy="3777974"/>
          </a:xfrm>
        </p:grpSpPr>
        <p:pic>
          <p:nvPicPr>
            <p:cNvPr id="3" name="Picture 4">
              <a:extLst>
                <a:ext uri="{FF2B5EF4-FFF2-40B4-BE49-F238E27FC236}">
                  <a16:creationId xmlns:a16="http://schemas.microsoft.com/office/drawing/2014/main" id="{BDF7C727-43A4-F0B4-35A4-9462E3859A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6906677" y="1540012"/>
              <a:ext cx="4447123" cy="188898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a:extLst>
                <a:ext uri="{FF2B5EF4-FFF2-40B4-BE49-F238E27FC236}">
                  <a16:creationId xmlns:a16="http://schemas.microsoft.com/office/drawing/2014/main" id="{47F65EA4-6354-8772-6085-F7F4E50D72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6906677" y="3428999"/>
              <a:ext cx="4447123" cy="188898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a:extLst>
              <a:ext uri="{FF2B5EF4-FFF2-40B4-BE49-F238E27FC236}">
                <a16:creationId xmlns:a16="http://schemas.microsoft.com/office/drawing/2014/main" id="{DB227866-CE3E-1618-A7CA-056730BFE2FD}"/>
              </a:ext>
            </a:extLst>
          </p:cNvPr>
          <p:cNvGrpSpPr/>
          <p:nvPr/>
        </p:nvGrpSpPr>
        <p:grpSpPr>
          <a:xfrm>
            <a:off x="2287471" y="1540011"/>
            <a:ext cx="4450129" cy="3777975"/>
            <a:chOff x="2287471" y="1540011"/>
            <a:chExt cx="4450129" cy="3777975"/>
          </a:xfrm>
        </p:grpSpPr>
        <p:pic>
          <p:nvPicPr>
            <p:cNvPr id="6" name="Picture 4">
              <a:extLst>
                <a:ext uri="{FF2B5EF4-FFF2-40B4-BE49-F238E27FC236}">
                  <a16:creationId xmlns:a16="http://schemas.microsoft.com/office/drawing/2014/main" id="{1A46A28B-8BD8-8F8C-DCD2-ED942CB7B3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7471" y="1540011"/>
              <a:ext cx="4450129" cy="1888987"/>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C823F48-3036-EE52-9657-DFAD7FB135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7471" y="3428999"/>
              <a:ext cx="4450129" cy="1888987"/>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grpSp>
      <p:pic>
        <p:nvPicPr>
          <p:cNvPr id="8" name="Picture 8" descr="Coumarin 343 Dye content 97 55804-65-4">
            <a:extLst>
              <a:ext uri="{FF2B5EF4-FFF2-40B4-BE49-F238E27FC236}">
                <a16:creationId xmlns:a16="http://schemas.microsoft.com/office/drawing/2014/main" id="{DEBD895A-694C-694F-49FD-4575179F40A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8947" y="1825175"/>
            <a:ext cx="1363223" cy="84349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15DCCCD-005E-E9CC-1384-C926CA46FFE4}"/>
              </a:ext>
            </a:extLst>
          </p:cNvPr>
          <p:cNvSpPr txBox="1"/>
          <p:nvPr/>
        </p:nvSpPr>
        <p:spPr>
          <a:xfrm>
            <a:off x="413986" y="2605350"/>
            <a:ext cx="1773141" cy="369332"/>
          </a:xfrm>
          <a:prstGeom prst="rect">
            <a:avLst/>
          </a:prstGeom>
          <a:noFill/>
        </p:spPr>
        <p:txBody>
          <a:bodyPr wrap="square" rtlCol="0">
            <a:spAutoFit/>
          </a:bodyPr>
          <a:lstStyle/>
          <a:p>
            <a:pPr algn="ctr"/>
            <a:r>
              <a:rPr lang="en-US" dirty="0">
                <a:latin typeface="Calibri Light" panose="020F0302020204030204" pitchFamily="34" charset="0"/>
                <a:ea typeface="Calibri Light" panose="020F0302020204030204" pitchFamily="34" charset="0"/>
                <a:cs typeface="Calibri Light" panose="020F0302020204030204" pitchFamily="34" charset="0"/>
              </a:rPr>
              <a:t>Coumarin-343</a:t>
            </a:r>
          </a:p>
        </p:txBody>
      </p:sp>
      <p:pic>
        <p:nvPicPr>
          <p:cNvPr id="10" name="Picture 8">
            <a:extLst>
              <a:ext uri="{FF2B5EF4-FFF2-40B4-BE49-F238E27FC236}">
                <a16:creationId xmlns:a16="http://schemas.microsoft.com/office/drawing/2014/main" id="{07D309ED-1C3F-D363-340A-2E404A0BBE2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p:blipFill>
        <p:spPr bwMode="auto">
          <a:xfrm>
            <a:off x="878811" y="3650028"/>
            <a:ext cx="843494" cy="84349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78AB6318-BC82-7403-DDF5-3DB2371E5450}"/>
              </a:ext>
            </a:extLst>
          </p:cNvPr>
          <p:cNvSpPr txBox="1"/>
          <p:nvPr/>
        </p:nvSpPr>
        <p:spPr>
          <a:xfrm>
            <a:off x="413987" y="4493522"/>
            <a:ext cx="1773141" cy="369332"/>
          </a:xfrm>
          <a:prstGeom prst="rect">
            <a:avLst/>
          </a:prstGeom>
          <a:noFill/>
        </p:spPr>
        <p:txBody>
          <a:bodyPr wrap="square" rtlCol="0">
            <a:spAutoFit/>
          </a:bodyPr>
          <a:lstStyle/>
          <a:p>
            <a:pPr algn="ctr"/>
            <a:r>
              <a:rPr lang="en-US" dirty="0">
                <a:latin typeface="Calibri Light" panose="020F0302020204030204" pitchFamily="34" charset="0"/>
                <a:ea typeface="Calibri Light" panose="020F0302020204030204" pitchFamily="34" charset="0"/>
                <a:cs typeface="Calibri Light" panose="020F0302020204030204" pitchFamily="34" charset="0"/>
              </a:rPr>
              <a:t>NBD-Amine</a:t>
            </a:r>
          </a:p>
        </p:txBody>
      </p:sp>
      <p:sp>
        <p:nvSpPr>
          <p:cNvPr id="12" name="TextBox 11">
            <a:extLst>
              <a:ext uri="{FF2B5EF4-FFF2-40B4-BE49-F238E27FC236}">
                <a16:creationId xmlns:a16="http://schemas.microsoft.com/office/drawing/2014/main" id="{BB15AA58-F94D-1FB0-77E8-D94F1E8D0BD4}"/>
              </a:ext>
            </a:extLst>
          </p:cNvPr>
          <p:cNvSpPr txBox="1"/>
          <p:nvPr/>
        </p:nvSpPr>
        <p:spPr>
          <a:xfrm>
            <a:off x="3313720" y="1113529"/>
            <a:ext cx="2648930" cy="369332"/>
          </a:xfrm>
          <a:prstGeom prst="rect">
            <a:avLst/>
          </a:prstGeom>
          <a:noFill/>
        </p:spPr>
        <p:txBody>
          <a:bodyPr wrap="square" rtlCol="0">
            <a:spAutoFit/>
          </a:bodyPr>
          <a:lstStyle/>
          <a:p>
            <a:pPr algn="ctr"/>
            <a:r>
              <a:rPr lang="en-US" dirty="0">
                <a:latin typeface="Calibri Light" panose="020F0302020204030204" pitchFamily="34" charset="0"/>
                <a:ea typeface="Calibri Light" panose="020F0302020204030204" pitchFamily="34" charset="0"/>
                <a:cs typeface="Calibri Light" panose="020F0302020204030204" pitchFamily="34" charset="0"/>
              </a:rPr>
              <a:t>Coupling Strength</a:t>
            </a:r>
          </a:p>
        </p:txBody>
      </p:sp>
      <p:sp>
        <p:nvSpPr>
          <p:cNvPr id="13" name="TextBox 12">
            <a:extLst>
              <a:ext uri="{FF2B5EF4-FFF2-40B4-BE49-F238E27FC236}">
                <a16:creationId xmlns:a16="http://schemas.microsoft.com/office/drawing/2014/main" id="{05A8BC25-5981-C4BF-BCC6-9E983744D589}"/>
              </a:ext>
            </a:extLst>
          </p:cNvPr>
          <p:cNvSpPr txBox="1"/>
          <p:nvPr/>
        </p:nvSpPr>
        <p:spPr>
          <a:xfrm>
            <a:off x="7511070" y="1113529"/>
            <a:ext cx="3449030" cy="369332"/>
          </a:xfrm>
          <a:prstGeom prst="rect">
            <a:avLst/>
          </a:prstGeom>
          <a:noFill/>
        </p:spPr>
        <p:txBody>
          <a:bodyPr wrap="square" rtlCol="0">
            <a:spAutoFit/>
          </a:bodyPr>
          <a:lstStyle/>
          <a:p>
            <a:pPr algn="ctr"/>
            <a:r>
              <a:rPr lang="en-US" dirty="0">
                <a:latin typeface="Calibri Light" panose="020F0302020204030204" pitchFamily="34" charset="0"/>
                <a:ea typeface="Calibri Light" panose="020F0302020204030204" pitchFamily="34" charset="0"/>
                <a:cs typeface="Calibri Light" panose="020F0302020204030204" pitchFamily="34" charset="0"/>
              </a:rPr>
              <a:t>Polarization Vector Alignment</a:t>
            </a:r>
          </a:p>
        </p:txBody>
      </p:sp>
    </p:spTree>
    <p:extLst>
      <p:ext uri="{BB962C8B-B14F-4D97-AF65-F5344CB8AC3E}">
        <p14:creationId xmlns:p14="http://schemas.microsoft.com/office/powerpoint/2010/main" val="24438330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6182</TotalTime>
  <Words>819</Words>
  <Application>Microsoft Office PowerPoint</Application>
  <PresentationFormat>Widescreen</PresentationFormat>
  <Paragraphs>100</Paragraphs>
  <Slides>13</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Calibri</vt:lpstr>
      <vt:lpstr>Calibri Light</vt:lpstr>
      <vt:lpstr>Office Theme</vt:lpstr>
      <vt:lpstr>QED-TD-DFT:  Photon Quantization for Strong EM Coupling Modelling</vt:lpstr>
      <vt:lpstr>Motivation: Exciton-Photon Polariton Coupling</vt:lpstr>
      <vt:lpstr>Review – TD-DFT and Casida Formulation</vt:lpstr>
      <vt:lpstr>Pauli-Fierz Hamiltonian – Quantizing Photons</vt:lpstr>
      <vt:lpstr>QED-TD-DFT as linear response with quantized photons</vt:lpstr>
      <vt:lpstr>Approximations to QED-TD-DFT</vt:lpstr>
      <vt:lpstr>Application of QED-TD-DFT to polaritonic systems</vt:lpstr>
      <vt:lpstr>Polaritonic splitting vs. coupling strength λ</vt:lpstr>
      <vt:lpstr>Polaritonic splitting vs. polarization vector alignment</vt:lpstr>
      <vt:lpstr>Polaritonic splitting vs. cavity frequency</vt:lpstr>
      <vt:lpstr>Issues with quantitative conclusions from TDA-JC on Coumarin 343 and NBD</vt:lpstr>
      <vt:lpstr>Extended applications of QED-TD-DFT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Vaibhav Srivatsan Vaiyakarnam</dc:creator>
  <cp:lastModifiedBy>Vaibhav Srivatsan Vaiyakarnam</cp:lastModifiedBy>
  <cp:revision>11</cp:revision>
  <dcterms:created xsi:type="dcterms:W3CDTF">2026-05-07T09:03:02Z</dcterms:created>
  <dcterms:modified xsi:type="dcterms:W3CDTF">2026-05-11T17:53:29Z</dcterms:modified>
</cp:coreProperties>
</file>